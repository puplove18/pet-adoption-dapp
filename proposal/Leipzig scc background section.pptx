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6" r:id="rId5"/>
    <p:sldId id="269" r:id="rId6"/>
    <p:sldId id="270" r:id="rId7"/>
    <p:sldId id="438" r:id="rId8"/>
    <p:sldId id="257" r:id="rId9"/>
    <p:sldId id="259" r:id="rId10"/>
    <p:sldId id="258" r:id="rId11"/>
    <p:sldId id="260" r:id="rId12"/>
    <p:sldId id="440" r:id="rId13"/>
    <p:sldId id="261" r:id="rId14"/>
    <p:sldId id="268" r:id="rId15"/>
    <p:sldId id="264" r:id="rId16"/>
    <p:sldId id="271" r:id="rId17"/>
    <p:sldId id="439" r:id="rId18"/>
    <p:sldId id="276" r:id="rId19"/>
    <p:sldId id="441" r:id="rId20"/>
    <p:sldId id="263" r:id="rId21"/>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2B27"/>
    <a:srgbClr val="B5B8BA"/>
    <a:srgbClr val="C369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DE23F2-DD3D-4CFB-A102-C784C58E9050}" v="12" dt="2025-10-01T08:15:50.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04" autoAdjust="0"/>
  </p:normalViewPr>
  <p:slideViewPr>
    <p:cSldViewPr snapToGrid="0">
      <p:cViewPr varScale="1">
        <p:scale>
          <a:sx n="98" d="100"/>
          <a:sy n="98" d="100"/>
        </p:scale>
        <p:origin x="114"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gs" Target="tags/tag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EDBC05-F26F-456A-81A1-394C9591AADF}" type="doc">
      <dgm:prSet loTypeId="urn:microsoft.com/office/officeart/2005/8/layout/radial4" loCatId="relationship" qsTypeId="urn:microsoft.com/office/officeart/2005/8/quickstyle/simple1" qsCatId="simple" csTypeId="urn:microsoft.com/office/officeart/2005/8/colors/colorful1" csCatId="colorful" phldr="1"/>
      <dgm:spPr/>
      <dgm:t>
        <a:bodyPr/>
        <a:lstStyle/>
        <a:p>
          <a:endParaRPr lang="en-GB"/>
        </a:p>
      </dgm:t>
    </dgm:pt>
    <dgm:pt modelId="{8D64BCE4-CC03-4CBC-AABE-2679CAF87535}">
      <dgm:prSet phldrT="[Text]"/>
      <dgm:spPr>
        <a:solidFill>
          <a:srgbClr val="A72B27"/>
        </a:solidFill>
      </dgm:spPr>
      <dgm:t>
        <a:bodyPr/>
        <a:lstStyle/>
        <a:p>
          <a:r>
            <a:rPr lang="en-GB" dirty="0">
              <a:latin typeface="Lexia" panose="02060604030504030204" pitchFamily="18" charset="0"/>
            </a:rPr>
            <a:t>You can organise…</a:t>
          </a:r>
        </a:p>
      </dgm:t>
    </dgm:pt>
    <dgm:pt modelId="{2ED411C7-6280-48E2-8AE8-FC9D5C8E1669}" type="parTrans" cxnId="{D7E05B06-42C5-4E50-A8FD-4D15F0AD01F1}">
      <dgm:prSet/>
      <dgm:spPr/>
      <dgm:t>
        <a:bodyPr/>
        <a:lstStyle/>
        <a:p>
          <a:endParaRPr lang="en-GB"/>
        </a:p>
      </dgm:t>
    </dgm:pt>
    <dgm:pt modelId="{F5B74078-FE68-4AF7-9657-C2B5B1474388}" type="sibTrans" cxnId="{D7E05B06-42C5-4E50-A8FD-4D15F0AD01F1}">
      <dgm:prSet/>
      <dgm:spPr/>
      <dgm:t>
        <a:bodyPr/>
        <a:lstStyle/>
        <a:p>
          <a:endParaRPr lang="en-GB"/>
        </a:p>
      </dgm:t>
    </dgm:pt>
    <dgm:pt modelId="{3923B581-4938-4007-B9CF-241B9FFCD0DE}">
      <dgm:prSet phldrT="[Text]"/>
      <dgm:spPr>
        <a:solidFill>
          <a:srgbClr val="A72B27"/>
        </a:solidFill>
      </dgm:spPr>
      <dgm:t>
        <a:bodyPr/>
        <a:lstStyle/>
        <a:p>
          <a:r>
            <a:rPr lang="en-GB" dirty="0">
              <a:latin typeface="Lexia" panose="02060604030504030204" pitchFamily="18" charset="0"/>
            </a:rPr>
            <a:t>Funnel model</a:t>
          </a:r>
        </a:p>
      </dgm:t>
    </dgm:pt>
    <dgm:pt modelId="{FD8025A9-D37B-4490-ADD6-8945F15B4460}" type="parTrans" cxnId="{4F929DAA-65DC-4181-A660-0BD3461A48DF}">
      <dgm:prSet/>
      <dgm:spPr>
        <a:solidFill>
          <a:srgbClr val="B5B8BA"/>
        </a:solidFill>
      </dgm:spPr>
      <dgm:t>
        <a:bodyPr/>
        <a:lstStyle/>
        <a:p>
          <a:endParaRPr lang="en-GB"/>
        </a:p>
      </dgm:t>
    </dgm:pt>
    <dgm:pt modelId="{E5522C5B-1870-46F1-B58D-8C2400CB9BDB}" type="sibTrans" cxnId="{4F929DAA-65DC-4181-A660-0BD3461A48DF}">
      <dgm:prSet/>
      <dgm:spPr/>
      <dgm:t>
        <a:bodyPr/>
        <a:lstStyle/>
        <a:p>
          <a:endParaRPr lang="en-GB"/>
        </a:p>
      </dgm:t>
    </dgm:pt>
    <dgm:pt modelId="{6916DBAC-4B89-4DB6-86CF-980E5F18000E}">
      <dgm:prSet phldrT="[Text]"/>
      <dgm:spPr/>
      <dgm:t>
        <a:bodyPr/>
        <a:lstStyle/>
        <a:p>
          <a:r>
            <a:rPr lang="en-GB" dirty="0">
              <a:latin typeface="Lexia" panose="02060604030504030204" pitchFamily="18" charset="0"/>
            </a:rPr>
            <a:t>Thematically</a:t>
          </a:r>
        </a:p>
      </dgm:t>
    </dgm:pt>
    <dgm:pt modelId="{09DC2C59-1A1E-48AD-88B6-1B60DE9DCC22}" type="parTrans" cxnId="{5861D978-B3E0-4646-B5A0-EB3DABC5E75A}">
      <dgm:prSet/>
      <dgm:spPr>
        <a:solidFill>
          <a:srgbClr val="A72B27"/>
        </a:solidFill>
      </dgm:spPr>
      <dgm:t>
        <a:bodyPr/>
        <a:lstStyle/>
        <a:p>
          <a:endParaRPr lang="en-GB"/>
        </a:p>
      </dgm:t>
    </dgm:pt>
    <dgm:pt modelId="{A83080DE-5042-404D-A997-BD4FED7DA97A}" type="sibTrans" cxnId="{5861D978-B3E0-4646-B5A0-EB3DABC5E75A}">
      <dgm:prSet/>
      <dgm:spPr/>
      <dgm:t>
        <a:bodyPr/>
        <a:lstStyle/>
        <a:p>
          <a:endParaRPr lang="en-GB"/>
        </a:p>
      </dgm:t>
    </dgm:pt>
    <dgm:pt modelId="{7755FAD0-0DBD-4CDC-A468-5C3D5EAC4B18}">
      <dgm:prSet phldrT="[Text]"/>
      <dgm:spPr>
        <a:solidFill>
          <a:srgbClr val="B5B8BA"/>
        </a:solidFill>
      </dgm:spPr>
      <dgm:t>
        <a:bodyPr/>
        <a:lstStyle/>
        <a:p>
          <a:r>
            <a:rPr lang="en-GB" dirty="0">
              <a:latin typeface="Lexia" panose="02060604030504030204" pitchFamily="18" charset="0"/>
            </a:rPr>
            <a:t>Methodologically</a:t>
          </a:r>
        </a:p>
      </dgm:t>
    </dgm:pt>
    <dgm:pt modelId="{7D2985E8-0A52-4E0F-834A-DA4409C0E0F7}" type="parTrans" cxnId="{2E0FB467-BDD0-43BA-A2AC-C21C1CFBF7E6}">
      <dgm:prSet/>
      <dgm:spPr>
        <a:solidFill>
          <a:srgbClr val="A72B27"/>
        </a:solidFill>
      </dgm:spPr>
      <dgm:t>
        <a:bodyPr/>
        <a:lstStyle/>
        <a:p>
          <a:endParaRPr lang="en-US"/>
        </a:p>
      </dgm:t>
    </dgm:pt>
    <dgm:pt modelId="{05313456-D266-49C6-B84F-85CC6CFB7552}" type="sibTrans" cxnId="{2E0FB467-BDD0-43BA-A2AC-C21C1CFBF7E6}">
      <dgm:prSet/>
      <dgm:spPr/>
      <dgm:t>
        <a:bodyPr/>
        <a:lstStyle/>
        <a:p>
          <a:endParaRPr lang="en-US"/>
        </a:p>
      </dgm:t>
    </dgm:pt>
    <dgm:pt modelId="{252D1C4C-94B2-484B-BA83-E3855C15E960}">
      <dgm:prSet phldrT="[Text]"/>
      <dgm:spPr>
        <a:solidFill>
          <a:srgbClr val="A72B27"/>
        </a:solidFill>
      </dgm:spPr>
      <dgm:t>
        <a:bodyPr/>
        <a:lstStyle/>
        <a:p>
          <a:r>
            <a:rPr lang="en-GB" dirty="0">
              <a:latin typeface="Lexia" panose="02060604030504030204" pitchFamily="18" charset="0"/>
            </a:rPr>
            <a:t>Chronologically</a:t>
          </a:r>
        </a:p>
      </dgm:t>
    </dgm:pt>
    <dgm:pt modelId="{0E5D1DD1-66B1-4C8B-9C88-D9780C5B5BB0}" type="sibTrans" cxnId="{FED3986A-76D1-46D1-A3B9-AA7B37954886}">
      <dgm:prSet/>
      <dgm:spPr/>
      <dgm:t>
        <a:bodyPr/>
        <a:lstStyle/>
        <a:p>
          <a:endParaRPr lang="en-GB"/>
        </a:p>
      </dgm:t>
    </dgm:pt>
    <dgm:pt modelId="{CB4F7EDE-DDDB-4468-811A-F33C343EDB60}" type="parTrans" cxnId="{FED3986A-76D1-46D1-A3B9-AA7B37954886}">
      <dgm:prSet/>
      <dgm:spPr>
        <a:solidFill>
          <a:srgbClr val="B5B8BA"/>
        </a:solidFill>
      </dgm:spPr>
      <dgm:t>
        <a:bodyPr/>
        <a:lstStyle/>
        <a:p>
          <a:endParaRPr lang="en-GB"/>
        </a:p>
      </dgm:t>
    </dgm:pt>
    <dgm:pt modelId="{527428B6-8A0A-4501-AA99-B89EBF78CB9E}" type="pres">
      <dgm:prSet presAssocID="{96EDBC05-F26F-456A-81A1-394C9591AADF}" presName="cycle" presStyleCnt="0">
        <dgm:presLayoutVars>
          <dgm:chMax val="1"/>
          <dgm:dir/>
          <dgm:animLvl val="ctr"/>
          <dgm:resizeHandles val="exact"/>
        </dgm:presLayoutVars>
      </dgm:prSet>
      <dgm:spPr/>
    </dgm:pt>
    <dgm:pt modelId="{770C32A1-D04D-4FC4-81A9-9E25818A2AAF}" type="pres">
      <dgm:prSet presAssocID="{8D64BCE4-CC03-4CBC-AABE-2679CAF87535}" presName="centerShape" presStyleLbl="node0" presStyleIdx="0" presStyleCnt="1" custLinFactNeighborX="1067" custLinFactNeighborY="-45728"/>
      <dgm:spPr/>
    </dgm:pt>
    <dgm:pt modelId="{BED2DB58-792B-4E51-99C1-F5EDBECCEC8A}" type="pres">
      <dgm:prSet presAssocID="{FD8025A9-D37B-4490-ADD6-8945F15B4460}" presName="parTrans" presStyleLbl="bgSibTrans2D1" presStyleIdx="0" presStyleCnt="4"/>
      <dgm:spPr/>
    </dgm:pt>
    <dgm:pt modelId="{D823E689-E283-417C-BAD1-3AF1CCB2DA5E}" type="pres">
      <dgm:prSet presAssocID="{3923B581-4938-4007-B9CF-241B9FFCD0DE}" presName="node" presStyleLbl="node1" presStyleIdx="0" presStyleCnt="4" custRadScaleRad="107131" custRadScaleInc="27680">
        <dgm:presLayoutVars>
          <dgm:bulletEnabled val="1"/>
        </dgm:presLayoutVars>
      </dgm:prSet>
      <dgm:spPr/>
    </dgm:pt>
    <dgm:pt modelId="{5B307E3A-5552-41AF-A11A-DCA4F3F9C741}" type="pres">
      <dgm:prSet presAssocID="{09DC2C59-1A1E-48AD-88B6-1B60DE9DCC22}" presName="parTrans" presStyleLbl="bgSibTrans2D1" presStyleIdx="1" presStyleCnt="4"/>
      <dgm:spPr/>
    </dgm:pt>
    <dgm:pt modelId="{024B1F0E-3A1C-4BF4-B270-CCCE158CC488}" type="pres">
      <dgm:prSet presAssocID="{6916DBAC-4B89-4DB6-86CF-980E5F18000E}" presName="node" presStyleLbl="node1" presStyleIdx="1" presStyleCnt="4" custRadScaleRad="20493" custRadScaleInc="-144318">
        <dgm:presLayoutVars>
          <dgm:bulletEnabled val="1"/>
        </dgm:presLayoutVars>
      </dgm:prSet>
      <dgm:spPr/>
    </dgm:pt>
    <dgm:pt modelId="{C27D221F-9AA5-40E7-98E9-17A58304C297}" type="pres">
      <dgm:prSet presAssocID="{7D2985E8-0A52-4E0F-834A-DA4409C0E0F7}" presName="parTrans" presStyleLbl="bgSibTrans2D1" presStyleIdx="2" presStyleCnt="4"/>
      <dgm:spPr/>
    </dgm:pt>
    <dgm:pt modelId="{AFB1DB1A-CAE9-4436-B1CF-F1A6223740A7}" type="pres">
      <dgm:prSet presAssocID="{7755FAD0-0DBD-4CDC-A468-5C3D5EAC4B18}" presName="node" presStyleLbl="node1" presStyleIdx="2" presStyleCnt="4" custRadScaleRad="114555" custRadScaleInc="69039">
        <dgm:presLayoutVars>
          <dgm:bulletEnabled val="1"/>
        </dgm:presLayoutVars>
      </dgm:prSet>
      <dgm:spPr/>
    </dgm:pt>
    <dgm:pt modelId="{D693BE3A-9563-4B5E-957C-4560A947F265}" type="pres">
      <dgm:prSet presAssocID="{CB4F7EDE-DDDB-4468-811A-F33C343EDB60}" presName="parTrans" presStyleLbl="bgSibTrans2D1" presStyleIdx="3" presStyleCnt="4"/>
      <dgm:spPr/>
    </dgm:pt>
    <dgm:pt modelId="{879CA586-04F3-495B-A3DE-A8CBAF5D0FE3}" type="pres">
      <dgm:prSet presAssocID="{252D1C4C-94B2-484B-BA83-E3855C15E960}" presName="node" presStyleLbl="node1" presStyleIdx="3" presStyleCnt="4" custRadScaleRad="53647" custRadScaleInc="31682">
        <dgm:presLayoutVars>
          <dgm:bulletEnabled val="1"/>
        </dgm:presLayoutVars>
      </dgm:prSet>
      <dgm:spPr/>
    </dgm:pt>
  </dgm:ptLst>
  <dgm:cxnLst>
    <dgm:cxn modelId="{335F2600-276F-4113-9CB0-6DB5533298CF}" type="presOf" srcId="{09DC2C59-1A1E-48AD-88B6-1B60DE9DCC22}" destId="{5B307E3A-5552-41AF-A11A-DCA4F3F9C741}" srcOrd="0" destOrd="0" presId="urn:microsoft.com/office/officeart/2005/8/layout/radial4"/>
    <dgm:cxn modelId="{9E152E01-9536-4FE8-A401-43A9E6C227EF}" type="presOf" srcId="{3923B581-4938-4007-B9CF-241B9FFCD0DE}" destId="{D823E689-E283-417C-BAD1-3AF1CCB2DA5E}" srcOrd="0" destOrd="0" presId="urn:microsoft.com/office/officeart/2005/8/layout/radial4"/>
    <dgm:cxn modelId="{D7E05B06-42C5-4E50-A8FD-4D15F0AD01F1}" srcId="{96EDBC05-F26F-456A-81A1-394C9591AADF}" destId="{8D64BCE4-CC03-4CBC-AABE-2679CAF87535}" srcOrd="0" destOrd="0" parTransId="{2ED411C7-6280-48E2-8AE8-FC9D5C8E1669}" sibTransId="{F5B74078-FE68-4AF7-9657-C2B5B1474388}"/>
    <dgm:cxn modelId="{2331272E-D2A8-4F95-981B-584DA50C0E9C}" type="presOf" srcId="{7D2985E8-0A52-4E0F-834A-DA4409C0E0F7}" destId="{C27D221F-9AA5-40E7-98E9-17A58304C297}" srcOrd="0" destOrd="0" presId="urn:microsoft.com/office/officeart/2005/8/layout/radial4"/>
    <dgm:cxn modelId="{AE96C52F-392F-4F20-881B-F7201279F6D8}" type="presOf" srcId="{252D1C4C-94B2-484B-BA83-E3855C15E960}" destId="{879CA586-04F3-495B-A3DE-A8CBAF5D0FE3}" srcOrd="0" destOrd="0" presId="urn:microsoft.com/office/officeart/2005/8/layout/radial4"/>
    <dgm:cxn modelId="{5D724732-98CF-4746-8049-D588E24C7846}" type="presOf" srcId="{7755FAD0-0DBD-4CDC-A468-5C3D5EAC4B18}" destId="{AFB1DB1A-CAE9-4436-B1CF-F1A6223740A7}" srcOrd="0" destOrd="0" presId="urn:microsoft.com/office/officeart/2005/8/layout/radial4"/>
    <dgm:cxn modelId="{2E0FB467-BDD0-43BA-A2AC-C21C1CFBF7E6}" srcId="{8D64BCE4-CC03-4CBC-AABE-2679CAF87535}" destId="{7755FAD0-0DBD-4CDC-A468-5C3D5EAC4B18}" srcOrd="2" destOrd="0" parTransId="{7D2985E8-0A52-4E0F-834A-DA4409C0E0F7}" sibTransId="{05313456-D266-49C6-B84F-85CC6CFB7552}"/>
    <dgm:cxn modelId="{A2C58948-76C1-437E-9010-9DA7A2206974}" type="presOf" srcId="{8D64BCE4-CC03-4CBC-AABE-2679CAF87535}" destId="{770C32A1-D04D-4FC4-81A9-9E25818A2AAF}" srcOrd="0" destOrd="0" presId="urn:microsoft.com/office/officeart/2005/8/layout/radial4"/>
    <dgm:cxn modelId="{FED3986A-76D1-46D1-A3B9-AA7B37954886}" srcId="{8D64BCE4-CC03-4CBC-AABE-2679CAF87535}" destId="{252D1C4C-94B2-484B-BA83-E3855C15E960}" srcOrd="3" destOrd="0" parTransId="{CB4F7EDE-DDDB-4468-811A-F33C343EDB60}" sibTransId="{0E5D1DD1-66B1-4C8B-9C88-D9780C5B5BB0}"/>
    <dgm:cxn modelId="{5861D978-B3E0-4646-B5A0-EB3DABC5E75A}" srcId="{8D64BCE4-CC03-4CBC-AABE-2679CAF87535}" destId="{6916DBAC-4B89-4DB6-86CF-980E5F18000E}" srcOrd="1" destOrd="0" parTransId="{09DC2C59-1A1E-48AD-88B6-1B60DE9DCC22}" sibTransId="{A83080DE-5042-404D-A997-BD4FED7DA97A}"/>
    <dgm:cxn modelId="{4CF3178B-A7BA-4F84-AD8F-02DEC8028A3E}" type="presOf" srcId="{CB4F7EDE-DDDB-4468-811A-F33C343EDB60}" destId="{D693BE3A-9563-4B5E-957C-4560A947F265}" srcOrd="0" destOrd="0" presId="urn:microsoft.com/office/officeart/2005/8/layout/radial4"/>
    <dgm:cxn modelId="{5329B298-938A-41DF-B6B1-2B7AE245670A}" type="presOf" srcId="{FD8025A9-D37B-4490-ADD6-8945F15B4460}" destId="{BED2DB58-792B-4E51-99C1-F5EDBECCEC8A}" srcOrd="0" destOrd="0" presId="urn:microsoft.com/office/officeart/2005/8/layout/radial4"/>
    <dgm:cxn modelId="{348D81AA-52DB-4123-AE43-08B7A3779F2E}" type="presOf" srcId="{96EDBC05-F26F-456A-81A1-394C9591AADF}" destId="{527428B6-8A0A-4501-AA99-B89EBF78CB9E}" srcOrd="0" destOrd="0" presId="urn:microsoft.com/office/officeart/2005/8/layout/radial4"/>
    <dgm:cxn modelId="{4F929DAA-65DC-4181-A660-0BD3461A48DF}" srcId="{8D64BCE4-CC03-4CBC-AABE-2679CAF87535}" destId="{3923B581-4938-4007-B9CF-241B9FFCD0DE}" srcOrd="0" destOrd="0" parTransId="{FD8025A9-D37B-4490-ADD6-8945F15B4460}" sibTransId="{E5522C5B-1870-46F1-B58D-8C2400CB9BDB}"/>
    <dgm:cxn modelId="{01BBFEED-C76B-4453-9003-5DACA66F285C}" type="presOf" srcId="{6916DBAC-4B89-4DB6-86CF-980E5F18000E}" destId="{024B1F0E-3A1C-4BF4-B270-CCCE158CC488}" srcOrd="0" destOrd="0" presId="urn:microsoft.com/office/officeart/2005/8/layout/radial4"/>
    <dgm:cxn modelId="{9B0C824F-4D8A-4B69-AC10-5D17FC9353D5}" type="presParOf" srcId="{527428B6-8A0A-4501-AA99-B89EBF78CB9E}" destId="{770C32A1-D04D-4FC4-81A9-9E25818A2AAF}" srcOrd="0" destOrd="0" presId="urn:microsoft.com/office/officeart/2005/8/layout/radial4"/>
    <dgm:cxn modelId="{A66807B4-2257-4793-A068-AA0F7A5C1638}" type="presParOf" srcId="{527428B6-8A0A-4501-AA99-B89EBF78CB9E}" destId="{BED2DB58-792B-4E51-99C1-F5EDBECCEC8A}" srcOrd="1" destOrd="0" presId="urn:microsoft.com/office/officeart/2005/8/layout/radial4"/>
    <dgm:cxn modelId="{717533BC-DEBF-4FFF-93DE-F90963DF43AE}" type="presParOf" srcId="{527428B6-8A0A-4501-AA99-B89EBF78CB9E}" destId="{D823E689-E283-417C-BAD1-3AF1CCB2DA5E}" srcOrd="2" destOrd="0" presId="urn:microsoft.com/office/officeart/2005/8/layout/radial4"/>
    <dgm:cxn modelId="{4A8597A8-1024-444A-B149-3E9E105F13CF}" type="presParOf" srcId="{527428B6-8A0A-4501-AA99-B89EBF78CB9E}" destId="{5B307E3A-5552-41AF-A11A-DCA4F3F9C741}" srcOrd="3" destOrd="0" presId="urn:microsoft.com/office/officeart/2005/8/layout/radial4"/>
    <dgm:cxn modelId="{73142F50-64DC-46DA-A33A-0245A9954136}" type="presParOf" srcId="{527428B6-8A0A-4501-AA99-B89EBF78CB9E}" destId="{024B1F0E-3A1C-4BF4-B270-CCCE158CC488}" srcOrd="4" destOrd="0" presId="urn:microsoft.com/office/officeart/2005/8/layout/radial4"/>
    <dgm:cxn modelId="{6047AC4B-20D0-4134-A41B-98378393CA4A}" type="presParOf" srcId="{527428B6-8A0A-4501-AA99-B89EBF78CB9E}" destId="{C27D221F-9AA5-40E7-98E9-17A58304C297}" srcOrd="5" destOrd="0" presId="urn:microsoft.com/office/officeart/2005/8/layout/radial4"/>
    <dgm:cxn modelId="{040B67AD-5EF9-43DD-A189-94417BECE754}" type="presParOf" srcId="{527428B6-8A0A-4501-AA99-B89EBF78CB9E}" destId="{AFB1DB1A-CAE9-4436-B1CF-F1A6223740A7}" srcOrd="6" destOrd="0" presId="urn:microsoft.com/office/officeart/2005/8/layout/radial4"/>
    <dgm:cxn modelId="{392BF8C7-2FB0-4956-B494-4D723CD6345B}" type="presParOf" srcId="{527428B6-8A0A-4501-AA99-B89EBF78CB9E}" destId="{D693BE3A-9563-4B5E-957C-4560A947F265}" srcOrd="7" destOrd="0" presId="urn:microsoft.com/office/officeart/2005/8/layout/radial4"/>
    <dgm:cxn modelId="{7DD7AD22-1CD2-4EF4-B624-660D77AFE13D}" type="presParOf" srcId="{527428B6-8A0A-4501-AA99-B89EBF78CB9E}" destId="{879CA586-04F3-495B-A3DE-A8CBAF5D0FE3}" srcOrd="8" destOrd="0" presId="urn:microsoft.com/office/officeart/2005/8/layout/radial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0C32A1-D04D-4FC4-81A9-9E25818A2AAF}">
      <dsp:nvSpPr>
        <dsp:cNvPr id="0" name=""/>
        <dsp:cNvSpPr/>
      </dsp:nvSpPr>
      <dsp:spPr>
        <a:xfrm>
          <a:off x="2625928" y="0"/>
          <a:ext cx="1901223" cy="1901223"/>
        </a:xfrm>
        <a:prstGeom prst="ellipse">
          <a:avLst/>
        </a:prstGeom>
        <a:solidFill>
          <a:srgbClr val="A72B2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latin typeface="Lexia" panose="02060604030504030204" pitchFamily="18" charset="0"/>
            </a:rPr>
            <a:t>You can organise…</a:t>
          </a:r>
        </a:p>
      </dsp:txBody>
      <dsp:txXfrm>
        <a:off x="2904356" y="278428"/>
        <a:ext cx="1344367" cy="1344367"/>
      </dsp:txXfrm>
    </dsp:sp>
    <dsp:sp modelId="{BED2DB58-792B-4E51-99C1-F5EDBECCEC8A}">
      <dsp:nvSpPr>
        <dsp:cNvPr id="0" name=""/>
        <dsp:cNvSpPr/>
      </dsp:nvSpPr>
      <dsp:spPr>
        <a:xfrm rot="9690226">
          <a:off x="994869" y="1270305"/>
          <a:ext cx="1632229" cy="541848"/>
        </a:xfrm>
        <a:prstGeom prst="leftArrow">
          <a:avLst>
            <a:gd name="adj1" fmla="val 60000"/>
            <a:gd name="adj2" fmla="val 50000"/>
          </a:avLst>
        </a:prstGeom>
        <a:solidFill>
          <a:srgbClr val="B5B8BA"/>
        </a:solidFill>
        <a:ln>
          <a:noFill/>
        </a:ln>
        <a:effectLst/>
      </dsp:spPr>
      <dsp:style>
        <a:lnRef idx="0">
          <a:scrgbClr r="0" g="0" b="0"/>
        </a:lnRef>
        <a:fillRef idx="1">
          <a:scrgbClr r="0" g="0" b="0"/>
        </a:fillRef>
        <a:effectRef idx="0">
          <a:scrgbClr r="0" g="0" b="0"/>
        </a:effectRef>
        <a:fontRef idx="minor">
          <a:schemeClr val="lt1"/>
        </a:fontRef>
      </dsp:style>
    </dsp:sp>
    <dsp:sp modelId="{D823E689-E283-417C-BAD1-3AF1CCB2DA5E}">
      <dsp:nvSpPr>
        <dsp:cNvPr id="0" name=""/>
        <dsp:cNvSpPr/>
      </dsp:nvSpPr>
      <dsp:spPr>
        <a:xfrm>
          <a:off x="133945" y="1077670"/>
          <a:ext cx="1806162" cy="1444930"/>
        </a:xfrm>
        <a:prstGeom prst="roundRect">
          <a:avLst>
            <a:gd name="adj" fmla="val 10000"/>
          </a:avLst>
        </a:prstGeom>
        <a:solidFill>
          <a:srgbClr val="A72B2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GB" sz="1500" kern="1200" dirty="0">
              <a:latin typeface="Lexia" panose="02060604030504030204" pitchFamily="18" charset="0"/>
            </a:rPr>
            <a:t>Funnel model</a:t>
          </a:r>
        </a:p>
      </dsp:txBody>
      <dsp:txXfrm>
        <a:off x="176266" y="1119991"/>
        <a:ext cx="1721520" cy="1360288"/>
      </dsp:txXfrm>
    </dsp:sp>
    <dsp:sp modelId="{5B307E3A-5552-41AF-A11A-DCA4F3F9C741}">
      <dsp:nvSpPr>
        <dsp:cNvPr id="0" name=""/>
        <dsp:cNvSpPr/>
      </dsp:nvSpPr>
      <dsp:spPr>
        <a:xfrm rot="6326767">
          <a:off x="2545420" y="2241231"/>
          <a:ext cx="1199292" cy="541848"/>
        </a:xfrm>
        <a:prstGeom prst="leftArrow">
          <a:avLst>
            <a:gd name="adj1" fmla="val 60000"/>
            <a:gd name="adj2" fmla="val 50000"/>
          </a:avLst>
        </a:prstGeom>
        <a:solidFill>
          <a:srgbClr val="A72B27"/>
        </a:solidFill>
        <a:ln>
          <a:noFill/>
        </a:ln>
        <a:effectLst/>
      </dsp:spPr>
      <dsp:style>
        <a:lnRef idx="0">
          <a:scrgbClr r="0" g="0" b="0"/>
        </a:lnRef>
        <a:fillRef idx="1">
          <a:scrgbClr r="0" g="0" b="0"/>
        </a:fillRef>
        <a:effectRef idx="0">
          <a:scrgbClr r="0" g="0" b="0"/>
        </a:effectRef>
        <a:fontRef idx="minor">
          <a:schemeClr val="lt1"/>
        </a:fontRef>
      </dsp:style>
    </dsp:sp>
    <dsp:sp modelId="{024B1F0E-3A1C-4BF4-B270-CCCE158CC488}">
      <dsp:nvSpPr>
        <dsp:cNvPr id="0" name=""/>
        <dsp:cNvSpPr/>
      </dsp:nvSpPr>
      <dsp:spPr>
        <a:xfrm>
          <a:off x="2082280" y="2367678"/>
          <a:ext cx="1806162" cy="1444930"/>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GB" sz="1500" kern="1200" dirty="0">
              <a:latin typeface="Lexia" panose="02060604030504030204" pitchFamily="18" charset="0"/>
            </a:rPr>
            <a:t>Thematically</a:t>
          </a:r>
        </a:p>
      </dsp:txBody>
      <dsp:txXfrm>
        <a:off x="2124601" y="2409999"/>
        <a:ext cx="1721520" cy="1360288"/>
      </dsp:txXfrm>
    </dsp:sp>
    <dsp:sp modelId="{C27D221F-9AA5-40E7-98E9-17A58304C297}">
      <dsp:nvSpPr>
        <dsp:cNvPr id="0" name=""/>
        <dsp:cNvSpPr/>
      </dsp:nvSpPr>
      <dsp:spPr>
        <a:xfrm rot="656542">
          <a:off x="4578975" y="1012519"/>
          <a:ext cx="1438159" cy="541848"/>
        </a:xfrm>
        <a:prstGeom prst="leftArrow">
          <a:avLst>
            <a:gd name="adj1" fmla="val 60000"/>
            <a:gd name="adj2" fmla="val 50000"/>
          </a:avLst>
        </a:prstGeom>
        <a:solidFill>
          <a:srgbClr val="A72B27"/>
        </a:solidFill>
        <a:ln>
          <a:noFill/>
        </a:ln>
        <a:effectLst/>
      </dsp:spPr>
      <dsp:style>
        <a:lnRef idx="0">
          <a:scrgbClr r="0" g="0" b="0"/>
        </a:lnRef>
        <a:fillRef idx="1">
          <a:scrgbClr r="0" g="0" b="0"/>
        </a:fillRef>
        <a:effectRef idx="0">
          <a:scrgbClr r="0" g="0" b="0"/>
        </a:effectRef>
        <a:fontRef idx="minor">
          <a:schemeClr val="lt1"/>
        </a:fontRef>
      </dsp:style>
    </dsp:sp>
    <dsp:sp modelId="{AFB1DB1A-CAE9-4436-B1CF-F1A6223740A7}">
      <dsp:nvSpPr>
        <dsp:cNvPr id="0" name=""/>
        <dsp:cNvSpPr/>
      </dsp:nvSpPr>
      <dsp:spPr>
        <a:xfrm>
          <a:off x="5100979" y="697475"/>
          <a:ext cx="1806162" cy="1444930"/>
        </a:xfrm>
        <a:prstGeom prst="roundRect">
          <a:avLst>
            <a:gd name="adj" fmla="val 10000"/>
          </a:avLst>
        </a:prstGeom>
        <a:solidFill>
          <a:srgbClr val="B5B8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GB" sz="1500" kern="1200" dirty="0">
              <a:latin typeface="Lexia" panose="02060604030504030204" pitchFamily="18" charset="0"/>
            </a:rPr>
            <a:t>Methodologically</a:t>
          </a:r>
        </a:p>
      </dsp:txBody>
      <dsp:txXfrm>
        <a:off x="5143300" y="739796"/>
        <a:ext cx="1721520" cy="1360288"/>
      </dsp:txXfrm>
    </dsp:sp>
    <dsp:sp modelId="{D693BE3A-9563-4B5E-957C-4560A947F265}">
      <dsp:nvSpPr>
        <dsp:cNvPr id="0" name=""/>
        <dsp:cNvSpPr/>
      </dsp:nvSpPr>
      <dsp:spPr>
        <a:xfrm rot="3456947">
          <a:off x="3788932" y="2178290"/>
          <a:ext cx="1476141" cy="541848"/>
        </a:xfrm>
        <a:prstGeom prst="leftArrow">
          <a:avLst>
            <a:gd name="adj1" fmla="val 60000"/>
            <a:gd name="adj2" fmla="val 50000"/>
          </a:avLst>
        </a:prstGeom>
        <a:solidFill>
          <a:srgbClr val="B5B8BA"/>
        </a:solidFill>
        <a:ln>
          <a:noFill/>
        </a:ln>
        <a:effectLst/>
      </dsp:spPr>
      <dsp:style>
        <a:lnRef idx="0">
          <a:scrgbClr r="0" g="0" b="0"/>
        </a:lnRef>
        <a:fillRef idx="1">
          <a:scrgbClr r="0" g="0" b="0"/>
        </a:fillRef>
        <a:effectRef idx="0">
          <a:scrgbClr r="0" g="0" b="0"/>
        </a:effectRef>
        <a:fontRef idx="minor">
          <a:schemeClr val="lt1"/>
        </a:fontRef>
      </dsp:style>
    </dsp:sp>
    <dsp:sp modelId="{879CA586-04F3-495B-A3DE-A8CBAF5D0FE3}">
      <dsp:nvSpPr>
        <dsp:cNvPr id="0" name=""/>
        <dsp:cNvSpPr/>
      </dsp:nvSpPr>
      <dsp:spPr>
        <a:xfrm>
          <a:off x="4019228" y="2350032"/>
          <a:ext cx="1806162" cy="1444930"/>
        </a:xfrm>
        <a:prstGeom prst="roundRect">
          <a:avLst>
            <a:gd name="adj" fmla="val 10000"/>
          </a:avLst>
        </a:prstGeom>
        <a:solidFill>
          <a:srgbClr val="A72B2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GB" sz="1500" kern="1200" dirty="0">
              <a:latin typeface="Lexia" panose="02060604030504030204" pitchFamily="18" charset="0"/>
            </a:rPr>
            <a:t>Chronologically</a:t>
          </a:r>
        </a:p>
      </dsp:txBody>
      <dsp:txXfrm>
        <a:off x="4061549" y="2392353"/>
        <a:ext cx="1721520" cy="1360288"/>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B8B2F4-C2EF-4AE9-A275-136E49FB6B44}" type="datetimeFigureOut">
              <a:rPr lang="en-GB" smtClean="0"/>
              <a:t>01/10/2025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27495-0963-4FD9-8505-6D5FB33688DE}" type="slidenum">
              <a:rPr lang="en-GB" smtClean="0"/>
              <a:t>‹#›</a:t>
            </a:fld>
            <a:endParaRPr lang="en-GB"/>
          </a:p>
        </p:txBody>
      </p:sp>
    </p:spTree>
    <p:extLst>
      <p:ext uri="{BB962C8B-B14F-4D97-AF65-F5344CB8AC3E}">
        <p14:creationId xmlns:p14="http://schemas.microsoft.com/office/powerpoint/2010/main" val="847140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GB" sz="1200" b="0" i="0" kern="1200" dirty="0">
                <a:solidFill>
                  <a:schemeClr val="tx1"/>
                </a:solidFill>
                <a:effectLst/>
                <a:latin typeface="+mn-lt"/>
                <a:ea typeface="+mn-ea"/>
                <a:cs typeface="+mn-cs"/>
              </a:rPr>
              <a:t>At the end of last week’s workshop, we asked you to go away and look back on the background section of your 3</a:t>
            </a:r>
            <a:r>
              <a:rPr lang="en-GB" sz="1200" b="0" i="0" kern="1200" baseline="30000" dirty="0">
                <a:solidFill>
                  <a:schemeClr val="tx1"/>
                </a:solidFill>
                <a:effectLst/>
                <a:latin typeface="+mn-lt"/>
                <a:ea typeface="+mn-ea"/>
                <a:cs typeface="+mn-cs"/>
              </a:rPr>
              <a:t>rd</a:t>
            </a:r>
            <a:r>
              <a:rPr lang="en-GB" sz="1200" b="0" i="0" kern="1200" dirty="0">
                <a:solidFill>
                  <a:schemeClr val="tx1"/>
                </a:solidFill>
                <a:effectLst/>
                <a:latin typeface="+mn-lt"/>
                <a:ea typeface="+mn-ea"/>
                <a:cs typeface="+mn-cs"/>
              </a:rPr>
              <a:t> year project, reflecting on how you used the literature, so I’m going to start by looking at the structure of this section, and you may find it useful after this session to look at the structure of last years report and identify how it could be improved. </a:t>
            </a:r>
          </a:p>
          <a:p>
            <a:pPr rtl="0" fontAlgn="base"/>
            <a:r>
              <a:rPr lang="en-GB" sz="1200" b="0" i="0" kern="1200" dirty="0">
                <a:solidFill>
                  <a:schemeClr val="tx1"/>
                </a:solidFill>
                <a:effectLst/>
                <a:latin typeface="+mn-lt"/>
                <a:ea typeface="+mn-ea"/>
                <a:cs typeface="+mn-cs"/>
              </a:rPr>
              <a:t>As I said, it’s not just a description of the studies you’ve come across in your literature search.  Often I see literature reviews that read like a bullet pointed list – Smith said, Jones stated that, Wilson defines etc.   </a:t>
            </a:r>
          </a:p>
          <a:p>
            <a:pPr rtl="0" fontAlgn="base"/>
            <a:endParaRPr lang="en-GB" sz="1200" b="0" i="0" kern="1200" dirty="0">
              <a:solidFill>
                <a:schemeClr val="tx1"/>
              </a:solidFill>
              <a:effectLst/>
              <a:latin typeface="+mn-lt"/>
              <a:ea typeface="+mn-ea"/>
              <a:cs typeface="+mn-cs"/>
            </a:endParaRPr>
          </a:p>
          <a:p>
            <a:pPr rtl="0" fontAlgn="base"/>
            <a:r>
              <a:rPr lang="en-GB" sz="1200" b="0" i="0" kern="1200" dirty="0">
                <a:solidFill>
                  <a:schemeClr val="tx1"/>
                </a:solidFill>
                <a:effectLst/>
                <a:latin typeface="+mn-lt"/>
                <a:ea typeface="+mn-ea"/>
                <a:cs typeface="+mn-cs"/>
              </a:rPr>
              <a:t>One of the most common approaches is a </a:t>
            </a:r>
            <a:r>
              <a:rPr lang="en-GB" sz="1200" b="1" i="0" kern="1200" dirty="0">
                <a:solidFill>
                  <a:schemeClr val="tx1"/>
                </a:solidFill>
                <a:effectLst/>
                <a:latin typeface="+mn-lt"/>
                <a:ea typeface="+mn-ea"/>
                <a:cs typeface="+mn-cs"/>
              </a:rPr>
              <a:t>thematic structure</a:t>
            </a:r>
            <a:r>
              <a:rPr lang="en-GB" sz="1200" b="0" i="0" kern="1200" dirty="0">
                <a:solidFill>
                  <a:schemeClr val="tx1"/>
                </a:solidFill>
                <a:effectLst/>
                <a:latin typeface="+mn-lt"/>
                <a:ea typeface="+mn-ea"/>
                <a:cs typeface="+mn-cs"/>
              </a:rPr>
              <a:t>, where you group research into key themes,  so for Katherine’s review she has identified 5 themes including display blindness, interaction blindness etc.</a:t>
            </a:r>
          </a:p>
          <a:p>
            <a:pPr rtl="0" fontAlgn="base"/>
            <a:endParaRPr lang="en-GB" sz="1200" b="0" i="0" kern="1200" dirty="0">
              <a:solidFill>
                <a:schemeClr val="tx1"/>
              </a:solidFill>
              <a:effectLst/>
              <a:latin typeface="+mn-lt"/>
              <a:ea typeface="+mn-ea"/>
              <a:cs typeface="+mn-cs"/>
            </a:endParaRPr>
          </a:p>
          <a:p>
            <a:pPr rtl="0" fontAlgn="base"/>
            <a:r>
              <a:rPr lang="en-GB" sz="1200" b="0" i="0" kern="1200" dirty="0">
                <a:solidFill>
                  <a:schemeClr val="tx1"/>
                </a:solidFill>
                <a:effectLst/>
                <a:latin typeface="+mn-lt"/>
                <a:ea typeface="+mn-ea"/>
                <a:cs typeface="+mn-cs"/>
              </a:rPr>
              <a:t>If you go for a </a:t>
            </a:r>
            <a:r>
              <a:rPr lang="en-GB" sz="1200" b="1" i="0" kern="1200" dirty="0">
                <a:solidFill>
                  <a:schemeClr val="tx1"/>
                </a:solidFill>
                <a:effectLst/>
                <a:latin typeface="+mn-lt"/>
                <a:ea typeface="+mn-ea"/>
                <a:cs typeface="+mn-cs"/>
              </a:rPr>
              <a:t>chronological approach</a:t>
            </a:r>
            <a:r>
              <a:rPr lang="en-GB" sz="1200" b="0" i="0" kern="1200" dirty="0">
                <a:solidFill>
                  <a:schemeClr val="tx1"/>
                </a:solidFill>
                <a:effectLst/>
                <a:latin typeface="+mn-lt"/>
                <a:ea typeface="+mn-ea"/>
                <a:cs typeface="+mn-cs"/>
              </a:rPr>
              <a:t> you may want to group together and discuss sources according to when they were published, which can be useful if you want to highlight changes &amp; developments in research field over time.  </a:t>
            </a:r>
          </a:p>
          <a:p>
            <a:pPr rtl="0" fontAlgn="base"/>
            <a:endParaRPr lang="en-GB" sz="1200" b="0" i="0" kern="1200" dirty="0">
              <a:solidFill>
                <a:schemeClr val="tx1"/>
              </a:solidFill>
              <a:effectLst/>
              <a:latin typeface="+mn-lt"/>
              <a:ea typeface="+mn-ea"/>
              <a:cs typeface="+mn-cs"/>
            </a:endParaRPr>
          </a:p>
          <a:p>
            <a:pPr rtl="0" fontAlgn="base"/>
            <a:r>
              <a:rPr lang="en-GB" sz="1200" b="0" i="0" kern="1200" dirty="0">
                <a:solidFill>
                  <a:schemeClr val="tx1"/>
                </a:solidFill>
                <a:effectLst/>
                <a:latin typeface="+mn-lt"/>
                <a:ea typeface="+mn-ea"/>
                <a:cs typeface="+mn-cs"/>
              </a:rPr>
              <a:t>If you structure </a:t>
            </a:r>
            <a:r>
              <a:rPr lang="en-GB" sz="1200" b="1" i="0" kern="1200" dirty="0">
                <a:solidFill>
                  <a:schemeClr val="tx1"/>
                </a:solidFill>
                <a:effectLst/>
                <a:latin typeface="+mn-lt"/>
                <a:ea typeface="+mn-ea"/>
                <a:cs typeface="+mn-cs"/>
              </a:rPr>
              <a:t>methodologically </a:t>
            </a:r>
            <a:r>
              <a:rPr lang="en-GB" sz="1200" b="0" i="0" kern="1200" dirty="0">
                <a:solidFill>
                  <a:schemeClr val="tx1"/>
                </a:solidFill>
                <a:effectLst/>
                <a:latin typeface="+mn-lt"/>
                <a:ea typeface="+mn-ea"/>
                <a:cs typeface="+mn-cs"/>
              </a:rPr>
              <a:t>you may want to focus on the</a:t>
            </a:r>
            <a:r>
              <a:rPr lang="en-GB" sz="1200" b="1" i="0" kern="120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different methods used to study the topic.</a:t>
            </a:r>
            <a:r>
              <a:rPr lang="en-GB" sz="1200" b="1" i="0" kern="120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 </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You may find it useful to look at other literature reviews/ background sections in journal articles to see how they have been structured.</a:t>
            </a:r>
          </a:p>
          <a:p>
            <a:endParaRPr lang="en-GB" dirty="0">
              <a:cs typeface="Calibri"/>
            </a:endParaRPr>
          </a:p>
        </p:txBody>
      </p:sp>
      <p:sp>
        <p:nvSpPr>
          <p:cNvPr id="4" name="Slide Number Placeholder 3"/>
          <p:cNvSpPr>
            <a:spLocks noGrp="1"/>
          </p:cNvSpPr>
          <p:nvPr>
            <p:ph type="sldNum" sz="quarter" idx="5"/>
          </p:nvPr>
        </p:nvSpPr>
        <p:spPr/>
        <p:txBody>
          <a:bodyPr/>
          <a:lstStyle/>
          <a:p>
            <a:fld id="{95B7CEFE-DDD6-4321-B396-025E6C3ED06C}" type="slidenum">
              <a:rPr lang="en-GB" smtClean="0"/>
              <a:pPr/>
              <a:t>4</a:t>
            </a:fld>
            <a:endParaRPr lang="en-GB"/>
          </a:p>
        </p:txBody>
      </p:sp>
    </p:spTree>
    <p:extLst>
      <p:ext uri="{BB962C8B-B14F-4D97-AF65-F5344CB8AC3E}">
        <p14:creationId xmlns:p14="http://schemas.microsoft.com/office/powerpoint/2010/main" val="1613423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F7C68-ABE2-4AA3-A99E-C48CAB5FE0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E41EB20-DE1E-4369-BC47-8E238A39F3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6CBD76B-7629-43ED-AA2F-D79ACA718564}"/>
              </a:ext>
            </a:extLst>
          </p:cNvPr>
          <p:cNvSpPr>
            <a:spLocks noGrp="1"/>
          </p:cNvSpPr>
          <p:nvPr>
            <p:ph type="dt" sz="half" idx="10"/>
          </p:nvPr>
        </p:nvSpPr>
        <p:spPr/>
        <p:txBody>
          <a:bodyPr/>
          <a:lstStyle/>
          <a:p>
            <a:fld id="{3EB784A7-15AF-4309-865E-4A6961E4452A}" type="datetimeFigureOut">
              <a:rPr lang="en-GB" smtClean="0"/>
              <a:t>01/10/2025</a:t>
            </a:fld>
            <a:endParaRPr lang="en-GB"/>
          </a:p>
        </p:txBody>
      </p:sp>
      <p:sp>
        <p:nvSpPr>
          <p:cNvPr id="5" name="Footer Placeholder 4">
            <a:extLst>
              <a:ext uri="{FF2B5EF4-FFF2-40B4-BE49-F238E27FC236}">
                <a16:creationId xmlns:a16="http://schemas.microsoft.com/office/drawing/2014/main" id="{C0369768-84D7-4CEB-80C9-8F4BB38276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7D00954-6A29-46FC-92A8-29EB94162D96}"/>
              </a:ext>
            </a:extLst>
          </p:cNvPr>
          <p:cNvSpPr>
            <a:spLocks noGrp="1"/>
          </p:cNvSpPr>
          <p:nvPr>
            <p:ph type="sldNum" sz="quarter" idx="12"/>
          </p:nvPr>
        </p:nvSpPr>
        <p:spPr/>
        <p:txBody>
          <a:bodyPr/>
          <a:lstStyle/>
          <a:p>
            <a:fld id="{C90DD7ED-AD76-4113-A809-4CA80E9AC71E}" type="slidenum">
              <a:rPr lang="en-GB" smtClean="0"/>
              <a:t>‹#›</a:t>
            </a:fld>
            <a:endParaRPr lang="en-GB"/>
          </a:p>
        </p:txBody>
      </p:sp>
    </p:spTree>
    <p:extLst>
      <p:ext uri="{BB962C8B-B14F-4D97-AF65-F5344CB8AC3E}">
        <p14:creationId xmlns:p14="http://schemas.microsoft.com/office/powerpoint/2010/main" val="64472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02E37-7D00-4AAD-A65A-3659EA9AE80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CB911D3-CC42-4AEE-BE19-B8D48245CC7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E2EAC2-1931-4C4C-A971-BC4D2065BA5C}"/>
              </a:ext>
            </a:extLst>
          </p:cNvPr>
          <p:cNvSpPr>
            <a:spLocks noGrp="1"/>
          </p:cNvSpPr>
          <p:nvPr>
            <p:ph type="dt" sz="half" idx="10"/>
          </p:nvPr>
        </p:nvSpPr>
        <p:spPr/>
        <p:txBody>
          <a:bodyPr/>
          <a:lstStyle/>
          <a:p>
            <a:fld id="{3EB784A7-15AF-4309-865E-4A6961E4452A}" type="datetimeFigureOut">
              <a:rPr lang="en-GB" smtClean="0"/>
              <a:t>01/10/2025</a:t>
            </a:fld>
            <a:endParaRPr lang="en-GB"/>
          </a:p>
        </p:txBody>
      </p:sp>
      <p:sp>
        <p:nvSpPr>
          <p:cNvPr id="5" name="Footer Placeholder 4">
            <a:extLst>
              <a:ext uri="{FF2B5EF4-FFF2-40B4-BE49-F238E27FC236}">
                <a16:creationId xmlns:a16="http://schemas.microsoft.com/office/drawing/2014/main" id="{52306D82-24A0-4D53-A0C9-465310379D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2F9A3A-7899-43C3-BE4C-7298180018A5}"/>
              </a:ext>
            </a:extLst>
          </p:cNvPr>
          <p:cNvSpPr>
            <a:spLocks noGrp="1"/>
          </p:cNvSpPr>
          <p:nvPr>
            <p:ph type="sldNum" sz="quarter" idx="12"/>
          </p:nvPr>
        </p:nvSpPr>
        <p:spPr/>
        <p:txBody>
          <a:bodyPr/>
          <a:lstStyle/>
          <a:p>
            <a:fld id="{C90DD7ED-AD76-4113-A809-4CA80E9AC71E}" type="slidenum">
              <a:rPr lang="en-GB" smtClean="0"/>
              <a:t>‹#›</a:t>
            </a:fld>
            <a:endParaRPr lang="en-GB"/>
          </a:p>
        </p:txBody>
      </p:sp>
    </p:spTree>
    <p:extLst>
      <p:ext uri="{BB962C8B-B14F-4D97-AF65-F5344CB8AC3E}">
        <p14:creationId xmlns:p14="http://schemas.microsoft.com/office/powerpoint/2010/main" val="12778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F2F0F-9CD6-418E-990C-E76D691B68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21D3647-8E90-4C90-8F6A-76BB470F65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3C874F7-014C-41D8-907C-E163AD2D0E99}"/>
              </a:ext>
            </a:extLst>
          </p:cNvPr>
          <p:cNvSpPr>
            <a:spLocks noGrp="1"/>
          </p:cNvSpPr>
          <p:nvPr>
            <p:ph type="dt" sz="half" idx="10"/>
          </p:nvPr>
        </p:nvSpPr>
        <p:spPr/>
        <p:txBody>
          <a:bodyPr/>
          <a:lstStyle/>
          <a:p>
            <a:fld id="{3EB784A7-15AF-4309-865E-4A6961E4452A}" type="datetimeFigureOut">
              <a:rPr lang="en-GB" smtClean="0"/>
              <a:t>01/10/2025</a:t>
            </a:fld>
            <a:endParaRPr lang="en-GB"/>
          </a:p>
        </p:txBody>
      </p:sp>
      <p:sp>
        <p:nvSpPr>
          <p:cNvPr id="5" name="Footer Placeholder 4">
            <a:extLst>
              <a:ext uri="{FF2B5EF4-FFF2-40B4-BE49-F238E27FC236}">
                <a16:creationId xmlns:a16="http://schemas.microsoft.com/office/drawing/2014/main" id="{708D91CC-8301-4480-AEE8-F32D94CBEE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63B641-406F-4F94-AA66-2621A9A0C778}"/>
              </a:ext>
            </a:extLst>
          </p:cNvPr>
          <p:cNvSpPr>
            <a:spLocks noGrp="1"/>
          </p:cNvSpPr>
          <p:nvPr>
            <p:ph type="sldNum" sz="quarter" idx="12"/>
          </p:nvPr>
        </p:nvSpPr>
        <p:spPr/>
        <p:txBody>
          <a:bodyPr/>
          <a:lstStyle/>
          <a:p>
            <a:fld id="{C90DD7ED-AD76-4113-A809-4CA80E9AC71E}" type="slidenum">
              <a:rPr lang="en-GB" smtClean="0"/>
              <a:t>‹#›</a:t>
            </a:fld>
            <a:endParaRPr lang="en-GB"/>
          </a:p>
        </p:txBody>
      </p:sp>
    </p:spTree>
    <p:extLst>
      <p:ext uri="{BB962C8B-B14F-4D97-AF65-F5344CB8AC3E}">
        <p14:creationId xmlns:p14="http://schemas.microsoft.com/office/powerpoint/2010/main" val="157104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13F4F-4756-46A8-A4A4-2B2CEB3DB63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6261648-3187-41C8-A685-22500863BFD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CFB7AB4-79AC-4E0F-B13A-CDABEE919C2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C73BA79-93CF-43BC-A5AD-87238172DD42}"/>
              </a:ext>
            </a:extLst>
          </p:cNvPr>
          <p:cNvSpPr>
            <a:spLocks noGrp="1"/>
          </p:cNvSpPr>
          <p:nvPr>
            <p:ph type="dt" sz="half" idx="10"/>
          </p:nvPr>
        </p:nvSpPr>
        <p:spPr/>
        <p:txBody>
          <a:bodyPr/>
          <a:lstStyle/>
          <a:p>
            <a:fld id="{3EB784A7-15AF-4309-865E-4A6961E4452A}" type="datetimeFigureOut">
              <a:rPr lang="en-GB" smtClean="0"/>
              <a:t>01/10/2025</a:t>
            </a:fld>
            <a:endParaRPr lang="en-GB"/>
          </a:p>
        </p:txBody>
      </p:sp>
      <p:sp>
        <p:nvSpPr>
          <p:cNvPr id="6" name="Footer Placeholder 5">
            <a:extLst>
              <a:ext uri="{FF2B5EF4-FFF2-40B4-BE49-F238E27FC236}">
                <a16:creationId xmlns:a16="http://schemas.microsoft.com/office/drawing/2014/main" id="{9E34E870-1A3C-45C2-871B-F063AFDEB54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30559BC-B9CD-466E-AEFA-F1B57A956AE5}"/>
              </a:ext>
            </a:extLst>
          </p:cNvPr>
          <p:cNvSpPr>
            <a:spLocks noGrp="1"/>
          </p:cNvSpPr>
          <p:nvPr>
            <p:ph type="sldNum" sz="quarter" idx="12"/>
          </p:nvPr>
        </p:nvSpPr>
        <p:spPr/>
        <p:txBody>
          <a:bodyPr/>
          <a:lstStyle/>
          <a:p>
            <a:fld id="{C90DD7ED-AD76-4113-A809-4CA80E9AC71E}" type="slidenum">
              <a:rPr lang="en-GB" smtClean="0"/>
              <a:t>‹#›</a:t>
            </a:fld>
            <a:endParaRPr lang="en-GB"/>
          </a:p>
        </p:txBody>
      </p:sp>
    </p:spTree>
    <p:extLst>
      <p:ext uri="{BB962C8B-B14F-4D97-AF65-F5344CB8AC3E}">
        <p14:creationId xmlns:p14="http://schemas.microsoft.com/office/powerpoint/2010/main" val="1978605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D4A6F-06B6-4455-8543-2DDAB1D0E8B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8EB4141-10A3-4EB2-9D34-75407D7D96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D89CAFC-34C0-496C-B4EA-67DD9E30B01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FF36BDE-5BD2-41EF-A8B1-DBB1762349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B4FFFCC-51D0-46C5-A20B-2C78C1C4771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A1036FD-BD39-4A6C-B79C-457B8B9DBC5D}"/>
              </a:ext>
            </a:extLst>
          </p:cNvPr>
          <p:cNvSpPr>
            <a:spLocks noGrp="1"/>
          </p:cNvSpPr>
          <p:nvPr>
            <p:ph type="dt" sz="half" idx="10"/>
          </p:nvPr>
        </p:nvSpPr>
        <p:spPr/>
        <p:txBody>
          <a:bodyPr/>
          <a:lstStyle/>
          <a:p>
            <a:fld id="{3EB784A7-15AF-4309-865E-4A6961E4452A}" type="datetimeFigureOut">
              <a:rPr lang="en-GB" smtClean="0"/>
              <a:t>01/10/2025</a:t>
            </a:fld>
            <a:endParaRPr lang="en-GB"/>
          </a:p>
        </p:txBody>
      </p:sp>
      <p:sp>
        <p:nvSpPr>
          <p:cNvPr id="8" name="Footer Placeholder 7">
            <a:extLst>
              <a:ext uri="{FF2B5EF4-FFF2-40B4-BE49-F238E27FC236}">
                <a16:creationId xmlns:a16="http://schemas.microsoft.com/office/drawing/2014/main" id="{32E2066F-1068-4C81-A8FD-92B415E46AD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6B77B45-95F6-4576-BEDB-C4B66EAFBA15}"/>
              </a:ext>
            </a:extLst>
          </p:cNvPr>
          <p:cNvSpPr>
            <a:spLocks noGrp="1"/>
          </p:cNvSpPr>
          <p:nvPr>
            <p:ph type="sldNum" sz="quarter" idx="12"/>
          </p:nvPr>
        </p:nvSpPr>
        <p:spPr/>
        <p:txBody>
          <a:bodyPr/>
          <a:lstStyle/>
          <a:p>
            <a:fld id="{C90DD7ED-AD76-4113-A809-4CA80E9AC71E}" type="slidenum">
              <a:rPr lang="en-GB" smtClean="0"/>
              <a:t>‹#›</a:t>
            </a:fld>
            <a:endParaRPr lang="en-GB"/>
          </a:p>
        </p:txBody>
      </p:sp>
    </p:spTree>
    <p:extLst>
      <p:ext uri="{BB962C8B-B14F-4D97-AF65-F5344CB8AC3E}">
        <p14:creationId xmlns:p14="http://schemas.microsoft.com/office/powerpoint/2010/main" val="2663041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988EB-948A-4E27-934A-0695B39C249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AE5924B-57C2-4B63-A1B0-FECFE5C43714}"/>
              </a:ext>
            </a:extLst>
          </p:cNvPr>
          <p:cNvSpPr>
            <a:spLocks noGrp="1"/>
          </p:cNvSpPr>
          <p:nvPr>
            <p:ph type="dt" sz="half" idx="10"/>
          </p:nvPr>
        </p:nvSpPr>
        <p:spPr/>
        <p:txBody>
          <a:bodyPr/>
          <a:lstStyle/>
          <a:p>
            <a:fld id="{3EB784A7-15AF-4309-865E-4A6961E4452A}" type="datetimeFigureOut">
              <a:rPr lang="en-GB" smtClean="0"/>
              <a:t>01/10/2025</a:t>
            </a:fld>
            <a:endParaRPr lang="en-GB"/>
          </a:p>
        </p:txBody>
      </p:sp>
      <p:sp>
        <p:nvSpPr>
          <p:cNvPr id="4" name="Footer Placeholder 3">
            <a:extLst>
              <a:ext uri="{FF2B5EF4-FFF2-40B4-BE49-F238E27FC236}">
                <a16:creationId xmlns:a16="http://schemas.microsoft.com/office/drawing/2014/main" id="{55A51E2A-CEF5-4073-8A79-507EA2589F4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AFB82CA-7204-45F5-8709-6E466BF946D7}"/>
              </a:ext>
            </a:extLst>
          </p:cNvPr>
          <p:cNvSpPr>
            <a:spLocks noGrp="1"/>
          </p:cNvSpPr>
          <p:nvPr>
            <p:ph type="sldNum" sz="quarter" idx="12"/>
          </p:nvPr>
        </p:nvSpPr>
        <p:spPr/>
        <p:txBody>
          <a:bodyPr/>
          <a:lstStyle/>
          <a:p>
            <a:fld id="{C90DD7ED-AD76-4113-A809-4CA80E9AC71E}" type="slidenum">
              <a:rPr lang="en-GB" smtClean="0"/>
              <a:t>‹#›</a:t>
            </a:fld>
            <a:endParaRPr lang="en-GB"/>
          </a:p>
        </p:txBody>
      </p:sp>
    </p:spTree>
    <p:extLst>
      <p:ext uri="{BB962C8B-B14F-4D97-AF65-F5344CB8AC3E}">
        <p14:creationId xmlns:p14="http://schemas.microsoft.com/office/powerpoint/2010/main" val="2175405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CC5F92-C27D-4B03-A02B-D8D4EB4F3CE4}"/>
              </a:ext>
            </a:extLst>
          </p:cNvPr>
          <p:cNvSpPr>
            <a:spLocks noGrp="1"/>
          </p:cNvSpPr>
          <p:nvPr>
            <p:ph type="dt" sz="half" idx="10"/>
          </p:nvPr>
        </p:nvSpPr>
        <p:spPr/>
        <p:txBody>
          <a:bodyPr/>
          <a:lstStyle/>
          <a:p>
            <a:fld id="{3EB784A7-15AF-4309-865E-4A6961E4452A}" type="datetimeFigureOut">
              <a:rPr lang="en-GB" smtClean="0"/>
              <a:t>01/10/2025</a:t>
            </a:fld>
            <a:endParaRPr lang="en-GB"/>
          </a:p>
        </p:txBody>
      </p:sp>
      <p:sp>
        <p:nvSpPr>
          <p:cNvPr id="3" name="Footer Placeholder 2">
            <a:extLst>
              <a:ext uri="{FF2B5EF4-FFF2-40B4-BE49-F238E27FC236}">
                <a16:creationId xmlns:a16="http://schemas.microsoft.com/office/drawing/2014/main" id="{91BFD984-E899-49EA-9A6E-063E440C5EB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5522038-4273-4968-A40E-2B4CE3125DB5}"/>
              </a:ext>
            </a:extLst>
          </p:cNvPr>
          <p:cNvSpPr>
            <a:spLocks noGrp="1"/>
          </p:cNvSpPr>
          <p:nvPr>
            <p:ph type="sldNum" sz="quarter" idx="12"/>
          </p:nvPr>
        </p:nvSpPr>
        <p:spPr/>
        <p:txBody>
          <a:bodyPr/>
          <a:lstStyle/>
          <a:p>
            <a:fld id="{C90DD7ED-AD76-4113-A809-4CA80E9AC71E}" type="slidenum">
              <a:rPr lang="en-GB" smtClean="0"/>
              <a:t>‹#›</a:t>
            </a:fld>
            <a:endParaRPr lang="en-GB"/>
          </a:p>
        </p:txBody>
      </p:sp>
    </p:spTree>
    <p:extLst>
      <p:ext uri="{BB962C8B-B14F-4D97-AF65-F5344CB8AC3E}">
        <p14:creationId xmlns:p14="http://schemas.microsoft.com/office/powerpoint/2010/main" val="1388991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4D187-7C5D-4B81-93E6-E3D4D38BA8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B94F7DF-C972-46F6-B8AD-023AE0CF02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36A8256-47DF-443C-B60A-05BC05145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251C399-372B-4003-AC0C-B3F839392E96}"/>
              </a:ext>
            </a:extLst>
          </p:cNvPr>
          <p:cNvSpPr>
            <a:spLocks noGrp="1"/>
          </p:cNvSpPr>
          <p:nvPr>
            <p:ph type="dt" sz="half" idx="10"/>
          </p:nvPr>
        </p:nvSpPr>
        <p:spPr/>
        <p:txBody>
          <a:bodyPr/>
          <a:lstStyle/>
          <a:p>
            <a:fld id="{3EB784A7-15AF-4309-865E-4A6961E4452A}" type="datetimeFigureOut">
              <a:rPr lang="en-GB" smtClean="0"/>
              <a:t>01/10/2025</a:t>
            </a:fld>
            <a:endParaRPr lang="en-GB"/>
          </a:p>
        </p:txBody>
      </p:sp>
      <p:sp>
        <p:nvSpPr>
          <p:cNvPr id="6" name="Footer Placeholder 5">
            <a:extLst>
              <a:ext uri="{FF2B5EF4-FFF2-40B4-BE49-F238E27FC236}">
                <a16:creationId xmlns:a16="http://schemas.microsoft.com/office/drawing/2014/main" id="{D2E2ED8B-2BC8-4160-9BA8-27D9299B60A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CD9E82D-3B98-4CE6-960D-95A458C5F37A}"/>
              </a:ext>
            </a:extLst>
          </p:cNvPr>
          <p:cNvSpPr>
            <a:spLocks noGrp="1"/>
          </p:cNvSpPr>
          <p:nvPr>
            <p:ph type="sldNum" sz="quarter" idx="12"/>
          </p:nvPr>
        </p:nvSpPr>
        <p:spPr/>
        <p:txBody>
          <a:bodyPr/>
          <a:lstStyle/>
          <a:p>
            <a:fld id="{C90DD7ED-AD76-4113-A809-4CA80E9AC71E}" type="slidenum">
              <a:rPr lang="en-GB" smtClean="0"/>
              <a:t>‹#›</a:t>
            </a:fld>
            <a:endParaRPr lang="en-GB"/>
          </a:p>
        </p:txBody>
      </p:sp>
    </p:spTree>
    <p:extLst>
      <p:ext uri="{BB962C8B-B14F-4D97-AF65-F5344CB8AC3E}">
        <p14:creationId xmlns:p14="http://schemas.microsoft.com/office/powerpoint/2010/main" val="3188005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4305D-ADBF-4734-9996-CA9AEC814A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FB6415E-A6CC-467F-A02D-973083256C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4F7BA03-CD71-4304-BA1D-A2E02B911E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B4D4F58-8785-4DD7-8DFB-A5ABB0B4F0B3}"/>
              </a:ext>
            </a:extLst>
          </p:cNvPr>
          <p:cNvSpPr>
            <a:spLocks noGrp="1"/>
          </p:cNvSpPr>
          <p:nvPr>
            <p:ph type="dt" sz="half" idx="10"/>
          </p:nvPr>
        </p:nvSpPr>
        <p:spPr/>
        <p:txBody>
          <a:bodyPr/>
          <a:lstStyle/>
          <a:p>
            <a:fld id="{3EB784A7-15AF-4309-865E-4A6961E4452A}" type="datetimeFigureOut">
              <a:rPr lang="en-GB" smtClean="0"/>
              <a:t>01/10/2025</a:t>
            </a:fld>
            <a:endParaRPr lang="en-GB"/>
          </a:p>
        </p:txBody>
      </p:sp>
      <p:sp>
        <p:nvSpPr>
          <p:cNvPr id="6" name="Footer Placeholder 5">
            <a:extLst>
              <a:ext uri="{FF2B5EF4-FFF2-40B4-BE49-F238E27FC236}">
                <a16:creationId xmlns:a16="http://schemas.microsoft.com/office/drawing/2014/main" id="{9290B769-BDBF-4E31-AB02-62E8FCDDC99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A2994BD-48A9-4E3B-8326-BE7AF6319127}"/>
              </a:ext>
            </a:extLst>
          </p:cNvPr>
          <p:cNvSpPr>
            <a:spLocks noGrp="1"/>
          </p:cNvSpPr>
          <p:nvPr>
            <p:ph type="sldNum" sz="quarter" idx="12"/>
          </p:nvPr>
        </p:nvSpPr>
        <p:spPr/>
        <p:txBody>
          <a:bodyPr/>
          <a:lstStyle/>
          <a:p>
            <a:fld id="{C90DD7ED-AD76-4113-A809-4CA80E9AC71E}" type="slidenum">
              <a:rPr lang="en-GB" smtClean="0"/>
              <a:t>‹#›</a:t>
            </a:fld>
            <a:endParaRPr lang="en-GB"/>
          </a:p>
        </p:txBody>
      </p:sp>
    </p:spTree>
    <p:extLst>
      <p:ext uri="{BB962C8B-B14F-4D97-AF65-F5344CB8AC3E}">
        <p14:creationId xmlns:p14="http://schemas.microsoft.com/office/powerpoint/2010/main" val="4050922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27E03-A413-489A-B216-251F961A163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F9FB3B0-5150-475C-8F4E-D6A906B42A3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0623CC-6D71-4292-882C-63B3D7AC045B}"/>
              </a:ext>
            </a:extLst>
          </p:cNvPr>
          <p:cNvSpPr>
            <a:spLocks noGrp="1"/>
          </p:cNvSpPr>
          <p:nvPr>
            <p:ph type="dt" sz="half" idx="10"/>
          </p:nvPr>
        </p:nvSpPr>
        <p:spPr/>
        <p:txBody>
          <a:bodyPr/>
          <a:lstStyle/>
          <a:p>
            <a:fld id="{3EB784A7-15AF-4309-865E-4A6961E4452A}" type="datetimeFigureOut">
              <a:rPr lang="en-GB" smtClean="0"/>
              <a:t>01/10/2025</a:t>
            </a:fld>
            <a:endParaRPr lang="en-GB"/>
          </a:p>
        </p:txBody>
      </p:sp>
      <p:sp>
        <p:nvSpPr>
          <p:cNvPr id="5" name="Footer Placeholder 4">
            <a:extLst>
              <a:ext uri="{FF2B5EF4-FFF2-40B4-BE49-F238E27FC236}">
                <a16:creationId xmlns:a16="http://schemas.microsoft.com/office/drawing/2014/main" id="{1E9AAA26-B4C5-4D3D-A82A-9A3E51102A7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3F750C-CFF7-4B36-B6FB-A9A759A0D181}"/>
              </a:ext>
            </a:extLst>
          </p:cNvPr>
          <p:cNvSpPr>
            <a:spLocks noGrp="1"/>
          </p:cNvSpPr>
          <p:nvPr>
            <p:ph type="sldNum" sz="quarter" idx="12"/>
          </p:nvPr>
        </p:nvSpPr>
        <p:spPr/>
        <p:txBody>
          <a:bodyPr/>
          <a:lstStyle/>
          <a:p>
            <a:fld id="{C90DD7ED-AD76-4113-A809-4CA80E9AC71E}" type="slidenum">
              <a:rPr lang="en-GB" smtClean="0"/>
              <a:t>‹#›</a:t>
            </a:fld>
            <a:endParaRPr lang="en-GB"/>
          </a:p>
        </p:txBody>
      </p:sp>
    </p:spTree>
    <p:extLst>
      <p:ext uri="{BB962C8B-B14F-4D97-AF65-F5344CB8AC3E}">
        <p14:creationId xmlns:p14="http://schemas.microsoft.com/office/powerpoint/2010/main" val="3621205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8C6AB1-08B1-4C48-80CB-168FB3D726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77B4CF5-7995-482C-A675-E9F906F1637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64F615-BCA6-4C53-9234-40FF0D75595A}"/>
              </a:ext>
            </a:extLst>
          </p:cNvPr>
          <p:cNvSpPr>
            <a:spLocks noGrp="1"/>
          </p:cNvSpPr>
          <p:nvPr>
            <p:ph type="dt" sz="half" idx="10"/>
          </p:nvPr>
        </p:nvSpPr>
        <p:spPr/>
        <p:txBody>
          <a:bodyPr/>
          <a:lstStyle/>
          <a:p>
            <a:fld id="{3EB784A7-15AF-4309-865E-4A6961E4452A}" type="datetimeFigureOut">
              <a:rPr lang="en-GB" smtClean="0"/>
              <a:t>01/10/2025</a:t>
            </a:fld>
            <a:endParaRPr lang="en-GB"/>
          </a:p>
        </p:txBody>
      </p:sp>
      <p:sp>
        <p:nvSpPr>
          <p:cNvPr id="5" name="Footer Placeholder 4">
            <a:extLst>
              <a:ext uri="{FF2B5EF4-FFF2-40B4-BE49-F238E27FC236}">
                <a16:creationId xmlns:a16="http://schemas.microsoft.com/office/drawing/2014/main" id="{79125B09-5D96-4B52-9263-7AF495E4C21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19D30C-D974-47CC-92C2-3A071237FA94}"/>
              </a:ext>
            </a:extLst>
          </p:cNvPr>
          <p:cNvSpPr>
            <a:spLocks noGrp="1"/>
          </p:cNvSpPr>
          <p:nvPr>
            <p:ph type="sldNum" sz="quarter" idx="12"/>
          </p:nvPr>
        </p:nvSpPr>
        <p:spPr/>
        <p:txBody>
          <a:bodyPr/>
          <a:lstStyle/>
          <a:p>
            <a:fld id="{C90DD7ED-AD76-4113-A809-4CA80E9AC71E}" type="slidenum">
              <a:rPr lang="en-GB" smtClean="0"/>
              <a:t>‹#›</a:t>
            </a:fld>
            <a:endParaRPr lang="en-GB"/>
          </a:p>
        </p:txBody>
      </p:sp>
    </p:spTree>
    <p:extLst>
      <p:ext uri="{BB962C8B-B14F-4D97-AF65-F5344CB8AC3E}">
        <p14:creationId xmlns:p14="http://schemas.microsoft.com/office/powerpoint/2010/main" val="3795810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lide 3: text using bullet points">
    <p:spTree>
      <p:nvGrpSpPr>
        <p:cNvPr id="1" name=""/>
        <p:cNvGrpSpPr/>
        <p:nvPr/>
      </p:nvGrpSpPr>
      <p:grpSpPr>
        <a:xfrm>
          <a:off x="0" y="0"/>
          <a:ext cx="0" cy="0"/>
          <a:chOff x="0" y="0"/>
          <a:chExt cx="0" cy="0"/>
        </a:xfrm>
      </p:grpSpPr>
      <p:sp>
        <p:nvSpPr>
          <p:cNvPr id="8" name="Subtitle 2"/>
          <p:cNvSpPr>
            <a:spLocks noGrp="1"/>
          </p:cNvSpPr>
          <p:nvPr>
            <p:ph type="subTitle" idx="13"/>
          </p:nvPr>
        </p:nvSpPr>
        <p:spPr>
          <a:xfrm>
            <a:off x="537931" y="1844824"/>
            <a:ext cx="11126688" cy="4752528"/>
          </a:xfrm>
          <a:prstGeom prst="rect">
            <a:avLst/>
          </a:prstGeom>
        </p:spPr>
        <p:txBody>
          <a:bodyPr/>
          <a:lstStyle>
            <a:lvl1pPr marL="358775" marR="0" indent="-358775" algn="l" defTabSz="914400" rtl="0" eaLnBrk="1" fontAlgn="auto" latinLnBrk="0" hangingPunct="1">
              <a:lnSpc>
                <a:spcPct val="100000"/>
              </a:lnSpc>
              <a:spcBef>
                <a:spcPct val="20000"/>
              </a:spcBef>
              <a:spcAft>
                <a:spcPts val="0"/>
              </a:spcAft>
              <a:buClrTx/>
              <a:buSzTx/>
              <a:buFont typeface="Arial" pitchFamily="34" charset="0"/>
              <a:buChar char="•"/>
              <a:tabLst/>
              <a:defRPr sz="24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Title 1"/>
          <p:cNvSpPr>
            <a:spLocks noGrp="1"/>
          </p:cNvSpPr>
          <p:nvPr>
            <p:ph type="ctrTitle"/>
          </p:nvPr>
        </p:nvSpPr>
        <p:spPr>
          <a:xfrm>
            <a:off x="527381" y="548680"/>
            <a:ext cx="9025003" cy="1152128"/>
          </a:xfrm>
          <a:prstGeom prst="rect">
            <a:avLst/>
          </a:prstGeom>
        </p:spPr>
        <p:txBody>
          <a:bodyPr/>
          <a:lstStyle>
            <a:lvl1pPr algn="l">
              <a:lnSpc>
                <a:spcPts val="3500"/>
              </a:lnSpc>
              <a:defRPr sz="3600">
                <a:solidFill>
                  <a:srgbClr val="B5121B"/>
                </a:solidFill>
              </a:defRPr>
            </a:lvl1pPr>
          </a:lstStyle>
          <a:p>
            <a:r>
              <a:rPr lang="en-US"/>
              <a:t>Click to edit Master title style</a:t>
            </a:r>
            <a:endParaRPr lang="en-GB"/>
          </a:p>
        </p:txBody>
      </p:sp>
    </p:spTree>
    <p:extLst>
      <p:ext uri="{BB962C8B-B14F-4D97-AF65-F5344CB8AC3E}">
        <p14:creationId xmlns:p14="http://schemas.microsoft.com/office/powerpoint/2010/main" val="880718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5C922E-0E8D-40F2-8E7C-96CF87C2D7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7A434A7-1A7F-45FF-86EF-B1B5FF1A03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56ECB9-D9D2-46CC-8FD6-51F4F04108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B784A7-15AF-4309-865E-4A6961E4452A}" type="datetimeFigureOut">
              <a:rPr lang="en-GB" smtClean="0"/>
              <a:t>01/10/2025</a:t>
            </a:fld>
            <a:endParaRPr lang="en-GB"/>
          </a:p>
        </p:txBody>
      </p:sp>
      <p:sp>
        <p:nvSpPr>
          <p:cNvPr id="5" name="Footer Placeholder 4">
            <a:extLst>
              <a:ext uri="{FF2B5EF4-FFF2-40B4-BE49-F238E27FC236}">
                <a16:creationId xmlns:a16="http://schemas.microsoft.com/office/drawing/2014/main" id="{5E942309-2C57-4914-A023-0448D1731E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91E8639-3EDD-472D-B3AF-7BD2DD7AD6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0DD7ED-AD76-4113-A809-4CA80E9AC71E}" type="slidenum">
              <a:rPr lang="en-GB" smtClean="0"/>
              <a:t>‹#›</a:t>
            </a:fld>
            <a:endParaRPr lang="en-GB"/>
          </a:p>
        </p:txBody>
      </p:sp>
    </p:spTree>
    <p:extLst>
      <p:ext uri="{BB962C8B-B14F-4D97-AF65-F5344CB8AC3E}">
        <p14:creationId xmlns:p14="http://schemas.microsoft.com/office/powerpoint/2010/main" val="3569217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xml"/><Relationship Id="rId7" Type="http://schemas.openxmlformats.org/officeDocument/2006/relationships/diagramColors" Target="../diagrams/colors1.xml"/><Relationship Id="rId2" Type="http://schemas.openxmlformats.org/officeDocument/2006/relationships/slideLayout" Target="../slideLayouts/slideLayout12.xml"/><Relationship Id="rId1" Type="http://schemas.openxmlformats.org/officeDocument/2006/relationships/tags" Target="../tags/tag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8" Type="http://schemas.openxmlformats.org/officeDocument/2006/relationships/hyperlink" Target="https://lnkd.in/eWwBBEDK" TargetMode="External"/><Relationship Id="rId3" Type="http://schemas.openxmlformats.org/officeDocument/2006/relationships/image" Target="../media/image1.jpg"/><Relationship Id="rId7" Type="http://schemas.openxmlformats.org/officeDocument/2006/relationships/hyperlink" Target="https://lancaster.libguides.com/c.php?g=680717&amp;p=4853665" TargetMode="External"/><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hyperlink" Target="http://ezproxy.lancs.ac.uk/login?url=http://webofknowledge.com/WOS" TargetMode="External"/><Relationship Id="rId5" Type="http://schemas.openxmlformats.org/officeDocument/2006/relationships/hyperlink" Target="http://ezproxy.lancs.ac.uk/login?url=https://www.scopus.com" TargetMode="External"/><Relationship Id="rId4" Type="http://schemas.openxmlformats.org/officeDocument/2006/relationships/hyperlink" Target="https://onesearch.lancaster-university.uk/discovery/search?vid=44LAN_INST:LUL_VU1" TargetMode="External"/><Relationship Id="rId9" Type="http://schemas.openxmlformats.org/officeDocument/2006/relationships/hyperlink" Target="http://ezproxy.lancs.ac.uk/login?url=https://www.statista.com/"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10.xml"/><Relationship Id="rId4" Type="http://schemas.openxmlformats.org/officeDocument/2006/relationships/image" Target="../media/image3.tmp"/></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4.tmp"/></Relationships>
</file>

<file path=ppt/slides/_rels/slide11.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6.tmp"/></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7.tmp"/></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15.xml"/><Relationship Id="rId5" Type="http://schemas.openxmlformats.org/officeDocument/2006/relationships/image" Target="../media/image8.tmp"/><Relationship Id="rId4" Type="http://schemas.openxmlformats.org/officeDocument/2006/relationships/hyperlink" Target="http://www.lancaster.ac.uk/articulate/libraryskills/refwork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16.xml"/><Relationship Id="rId6" Type="http://schemas.openxmlformats.org/officeDocument/2006/relationships/hyperlink" Target="https://www.overleaf.com/edu/lancaster" TargetMode="External"/><Relationship Id="rId5" Type="http://schemas.openxmlformats.org/officeDocument/2006/relationships/image" Target="../media/image9.tmp"/><Relationship Id="rId4" Type="http://schemas.openxmlformats.org/officeDocument/2006/relationships/hyperlink" Target="https://www.overleaf.com/learn/latex/Bibliography_management_with_bibtex"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17.xml"/><Relationship Id="rId5" Type="http://schemas.openxmlformats.org/officeDocument/2006/relationships/image" Target="../media/image10.tmp"/><Relationship Id="rId4" Type="http://schemas.openxmlformats.org/officeDocument/2006/relationships/hyperlink" Target="https://phrasebankresearch.net/"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ags" Target="../tags/tag18.xml"/><Relationship Id="rId6" Type="http://schemas.openxmlformats.org/officeDocument/2006/relationships/hyperlink" Target="https://lancaster-uk.libcal.com/appointments/digital-appointment?g=1172" TargetMode="External"/><Relationship Id="rId5" Type="http://schemas.openxmlformats.org/officeDocument/2006/relationships/hyperlink" Target="mailto:r.frost6@lancaster.ac.uk" TargetMode="External"/><Relationship Id="rId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A86B8726-EEFC-4249-B788-24DE482D6776}"/>
              </a:ext>
            </a:extLst>
          </p:cNvPr>
          <p:cNvSpPr txBox="1">
            <a:spLocks noGrp="1"/>
          </p:cNvSpPr>
          <p:nvPr>
            <p:ph type="title" idx="4294967295"/>
          </p:nvPr>
        </p:nvSpPr>
        <p:spPr>
          <a:xfrm>
            <a:off x="212432" y="1333559"/>
            <a:ext cx="9636417" cy="83099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Literature Searching for your Final Year Project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A72B27"/>
                </a:solidFill>
                <a:effectLst/>
                <a:uLnTx/>
                <a:uFillTx/>
                <a:latin typeface="Lexia" panose="02060604030504030204" pitchFamily="18" charset="0"/>
                <a:ea typeface="+mn-ea"/>
                <a:cs typeface="+mn-cs"/>
              </a:rPr>
              <a:t>Bob Frost – Faculty Librarian</a:t>
            </a:r>
          </a:p>
        </p:txBody>
      </p:sp>
      <p:pic>
        <p:nvPicPr>
          <p:cNvPr id="3" name="Picture 2" descr="A tree in a library at Lancaster Bailrigg Library">
            <a:extLst>
              <a:ext uri="{FF2B5EF4-FFF2-40B4-BE49-F238E27FC236}">
                <a16:creationId xmlns:a16="http://schemas.microsoft.com/office/drawing/2014/main" id="{B77DADC8-6B77-8E44-ACDC-EE5460DC9F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432" y="2390774"/>
            <a:ext cx="7095067" cy="3990975"/>
          </a:xfrm>
          <a:prstGeom prst="rect">
            <a:avLst/>
          </a:prstGeom>
        </p:spPr>
      </p:pic>
    </p:spTree>
    <p:custDataLst>
      <p:tags r:id="rId1"/>
    </p:custDataLst>
    <p:extLst>
      <p:ext uri="{BB962C8B-B14F-4D97-AF65-F5344CB8AC3E}">
        <p14:creationId xmlns:p14="http://schemas.microsoft.com/office/powerpoint/2010/main" val="3871655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2" name="Title 1">
            <a:extLst>
              <a:ext uri="{FF2B5EF4-FFF2-40B4-BE49-F238E27FC236}">
                <a16:creationId xmlns:a16="http://schemas.microsoft.com/office/drawing/2014/main" id="{2AD18415-4322-48D4-826D-DB8012535747}"/>
              </a:ext>
            </a:extLst>
          </p:cNvPr>
          <p:cNvSpPr txBox="1">
            <a:spLocks noGrp="1"/>
          </p:cNvSpPr>
          <p:nvPr>
            <p:ph type="title" idx="4294967295"/>
          </p:nvPr>
        </p:nvSpPr>
        <p:spPr>
          <a:xfrm>
            <a:off x="628650" y="866480"/>
            <a:ext cx="8138278"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A72B27"/>
                </a:solidFill>
                <a:effectLst/>
                <a:uLnTx/>
                <a:uFillTx/>
                <a:latin typeface="Lexia" panose="02060604030504030204" pitchFamily="18" charset="0"/>
                <a:ea typeface="+mn-ea"/>
                <a:cs typeface="+mn-cs"/>
              </a:rPr>
              <a:t>What is a Background Section?</a:t>
            </a:r>
          </a:p>
        </p:txBody>
      </p:sp>
      <p:sp>
        <p:nvSpPr>
          <p:cNvPr id="6" name="Content Placeholder 1">
            <a:extLst>
              <a:ext uri="{FF2B5EF4-FFF2-40B4-BE49-F238E27FC236}">
                <a16:creationId xmlns:a16="http://schemas.microsoft.com/office/drawing/2014/main" id="{294F91BB-F20E-45EB-91F1-1C4ED97E2B2C}"/>
              </a:ext>
            </a:extLst>
          </p:cNvPr>
          <p:cNvSpPr txBox="1">
            <a:spLocks/>
          </p:cNvSpPr>
          <p:nvPr/>
        </p:nvSpPr>
        <p:spPr>
          <a:xfrm>
            <a:off x="628650" y="2092569"/>
            <a:ext cx="7011865" cy="4014317"/>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dirty="0">
                <a:latin typeface="Lexia" panose="02060604030504030204" pitchFamily="18" charset="0"/>
              </a:rPr>
              <a:t>An evaluation of published information in a discrete area of research.  It </a:t>
            </a:r>
            <a:r>
              <a:rPr lang="en-GB" dirty="0">
                <a:solidFill>
                  <a:srgbClr val="A72B27"/>
                </a:solidFill>
                <a:latin typeface="Lexia" panose="02060604030504030204" pitchFamily="18" charset="0"/>
              </a:rPr>
              <a:t>describes</a:t>
            </a:r>
            <a:r>
              <a:rPr lang="en-GB" dirty="0">
                <a:latin typeface="Lexia" panose="02060604030504030204" pitchFamily="18" charset="0"/>
              </a:rPr>
              <a:t>, </a:t>
            </a:r>
            <a:r>
              <a:rPr lang="en-GB" dirty="0">
                <a:solidFill>
                  <a:srgbClr val="A72B27"/>
                </a:solidFill>
                <a:latin typeface="Lexia" panose="02060604030504030204" pitchFamily="18" charset="0"/>
              </a:rPr>
              <a:t>summarises</a:t>
            </a:r>
            <a:r>
              <a:rPr lang="en-GB" dirty="0">
                <a:latin typeface="Lexia" panose="02060604030504030204" pitchFamily="18" charset="0"/>
              </a:rPr>
              <a:t> and </a:t>
            </a:r>
            <a:r>
              <a:rPr lang="en-GB" dirty="0">
                <a:solidFill>
                  <a:srgbClr val="A72B27"/>
                </a:solidFill>
                <a:latin typeface="Lexia" panose="02060604030504030204" pitchFamily="18" charset="0"/>
              </a:rPr>
              <a:t>critically reviews </a:t>
            </a:r>
            <a:r>
              <a:rPr lang="en-GB" dirty="0">
                <a:latin typeface="Lexia" panose="02060604030504030204" pitchFamily="18" charset="0"/>
              </a:rPr>
              <a:t>the available evidence within a theoretical framework.</a:t>
            </a:r>
          </a:p>
          <a:p>
            <a:pPr algn="l"/>
            <a:endParaRPr lang="en-GB" dirty="0">
              <a:latin typeface="Lexia" panose="02060604030504030204" pitchFamily="18" charset="0"/>
            </a:endParaRPr>
          </a:p>
          <a:p>
            <a:pPr algn="l"/>
            <a:r>
              <a:rPr lang="en-GB" dirty="0">
                <a:latin typeface="Lexia" panose="02060604030504030204" pitchFamily="18" charset="0"/>
              </a:rPr>
              <a:t>It identifies what is known but also where there are </a:t>
            </a:r>
            <a:r>
              <a:rPr lang="en-GB" dirty="0">
                <a:solidFill>
                  <a:srgbClr val="A72B27"/>
                </a:solidFill>
                <a:latin typeface="Lexia" panose="02060604030504030204" pitchFamily="18" charset="0"/>
              </a:rPr>
              <a:t>knowledge gaps</a:t>
            </a:r>
            <a:r>
              <a:rPr lang="en-GB" dirty="0">
                <a:latin typeface="Lexia" panose="02060604030504030204" pitchFamily="18" charset="0"/>
              </a:rPr>
              <a:t>.</a:t>
            </a:r>
          </a:p>
          <a:p>
            <a:pPr algn="l"/>
            <a:endParaRPr lang="en-GB" dirty="0">
              <a:latin typeface="Lexia" panose="02060604030504030204" pitchFamily="18" charset="0"/>
            </a:endParaRPr>
          </a:p>
          <a:p>
            <a:pPr algn="l"/>
            <a:r>
              <a:rPr lang="en-GB" dirty="0">
                <a:latin typeface="Lexia" panose="02060604030504030204" pitchFamily="18" charset="0"/>
              </a:rPr>
              <a:t>It will give you ideas and stop you making mistakes.</a:t>
            </a:r>
          </a:p>
          <a:p>
            <a:endParaRPr lang="en-GB" dirty="0"/>
          </a:p>
        </p:txBody>
      </p:sp>
    </p:spTree>
    <p:custDataLst>
      <p:tags r:id="rId1"/>
    </p:custDataLst>
    <p:extLst>
      <p:ext uri="{BB962C8B-B14F-4D97-AF65-F5344CB8AC3E}">
        <p14:creationId xmlns:p14="http://schemas.microsoft.com/office/powerpoint/2010/main" val="1003699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7" name="Title 3">
            <a:extLst>
              <a:ext uri="{FF2B5EF4-FFF2-40B4-BE49-F238E27FC236}">
                <a16:creationId xmlns:a16="http://schemas.microsoft.com/office/drawing/2014/main" id="{4AFECE42-5A88-4850-BCF4-9044EF5FD21A}"/>
              </a:ext>
            </a:extLst>
          </p:cNvPr>
          <p:cNvSpPr txBox="1">
            <a:spLocks noGrp="1"/>
          </p:cNvSpPr>
          <p:nvPr>
            <p:ph type="title" idx="4294967295"/>
          </p:nvPr>
        </p:nvSpPr>
        <p:spPr>
          <a:xfrm>
            <a:off x="335449" y="648411"/>
            <a:ext cx="7088808" cy="6858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400" b="0" i="0" u="none" strike="noStrike" kern="1200" cap="none" spc="0" normalizeH="0" baseline="0" noProof="0" dirty="0">
                <a:ln>
                  <a:noFill/>
                </a:ln>
                <a:solidFill>
                  <a:srgbClr val="A72B27"/>
                </a:solidFill>
                <a:effectLst/>
                <a:uLnTx/>
                <a:uFillTx/>
                <a:latin typeface="Lexia" panose="02060604030504030204" pitchFamily="18" charset="0"/>
                <a:ea typeface="+mj-ea"/>
                <a:cs typeface="+mj-cs"/>
              </a:rPr>
              <a:t>What is the purpose of a background section?</a:t>
            </a:r>
          </a:p>
        </p:txBody>
      </p:sp>
      <p:sp>
        <p:nvSpPr>
          <p:cNvPr id="8" name="Content Placeholder 1">
            <a:extLst>
              <a:ext uri="{FF2B5EF4-FFF2-40B4-BE49-F238E27FC236}">
                <a16:creationId xmlns:a16="http://schemas.microsoft.com/office/drawing/2014/main" id="{7514B2E0-F938-43C5-99B7-0093F60A2E30}"/>
              </a:ext>
            </a:extLst>
          </p:cNvPr>
          <p:cNvSpPr txBox="1">
            <a:spLocks/>
          </p:cNvSpPr>
          <p:nvPr/>
        </p:nvSpPr>
        <p:spPr>
          <a:xfrm>
            <a:off x="335449" y="1830147"/>
            <a:ext cx="7635674" cy="4379442"/>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60000"/>
              </a:lnSpc>
              <a:buFont typeface="Arial" panose="020B0604020202020204" pitchFamily="34" charset="0"/>
              <a:buChar char="•"/>
            </a:pPr>
            <a:r>
              <a:rPr lang="en-GB" dirty="0">
                <a:latin typeface="Lexia" panose="02060604030504030204" pitchFamily="18" charset="0"/>
              </a:rPr>
              <a:t>To provide a context and justification for your research</a:t>
            </a:r>
          </a:p>
          <a:p>
            <a:pPr marL="457200" indent="-457200" algn="l">
              <a:lnSpc>
                <a:spcPct val="160000"/>
              </a:lnSpc>
              <a:buFont typeface="Arial" panose="020B0604020202020204" pitchFamily="34" charset="0"/>
              <a:buChar char="•"/>
            </a:pPr>
            <a:r>
              <a:rPr lang="en-GB" dirty="0">
                <a:latin typeface="Lexia" panose="02060604030504030204" pitchFamily="18" charset="0"/>
              </a:rPr>
              <a:t>To identify similar projects/ problems/ themes/ methodology/ evaluation methods and critically explore how these are relevant to your research</a:t>
            </a:r>
          </a:p>
          <a:p>
            <a:pPr marL="457200" indent="-457200" algn="l">
              <a:lnSpc>
                <a:spcPct val="160000"/>
              </a:lnSpc>
              <a:buFont typeface="Arial" panose="020B0604020202020204" pitchFamily="34" charset="0"/>
              <a:buChar char="•"/>
            </a:pPr>
            <a:r>
              <a:rPr lang="en-GB" dirty="0">
                <a:latin typeface="Lexia" panose="02060604030504030204" pitchFamily="18" charset="0"/>
              </a:rPr>
              <a:t>Highlight any limitations in previous research</a:t>
            </a:r>
          </a:p>
          <a:p>
            <a:pPr marL="457200" indent="-457200" algn="l">
              <a:lnSpc>
                <a:spcPct val="160000"/>
              </a:lnSpc>
              <a:buFont typeface="Arial" panose="020B0604020202020204" pitchFamily="34" charset="0"/>
              <a:buChar char="•"/>
            </a:pPr>
            <a:r>
              <a:rPr lang="en-GB" dirty="0">
                <a:latin typeface="Lexia" panose="02060604030504030204" pitchFamily="18" charset="0"/>
              </a:rPr>
              <a:t>Highlight any gaps in the body of research </a:t>
            </a:r>
          </a:p>
          <a:p>
            <a:pPr marL="457200" indent="-457200" algn="l">
              <a:lnSpc>
                <a:spcPct val="160000"/>
              </a:lnSpc>
              <a:buFont typeface="Arial" panose="020B0604020202020204" pitchFamily="34" charset="0"/>
              <a:buChar char="•"/>
            </a:pPr>
            <a:r>
              <a:rPr lang="en-GB" dirty="0">
                <a:latin typeface="Lexia" panose="02060604030504030204" pitchFamily="18" charset="0"/>
              </a:rPr>
              <a:t>To show where your research fits into the existing literature </a:t>
            </a:r>
          </a:p>
          <a:p>
            <a:pPr>
              <a:lnSpc>
                <a:spcPct val="160000"/>
              </a:lnSpc>
            </a:pPr>
            <a:endParaRPr lang="en-GB" dirty="0"/>
          </a:p>
          <a:p>
            <a:endParaRPr lang="en-GB" dirty="0"/>
          </a:p>
        </p:txBody>
      </p:sp>
    </p:spTree>
    <p:custDataLst>
      <p:tags r:id="rId1"/>
    </p:custDataLst>
    <p:extLst>
      <p:ext uri="{BB962C8B-B14F-4D97-AF65-F5344CB8AC3E}">
        <p14:creationId xmlns:p14="http://schemas.microsoft.com/office/powerpoint/2010/main" val="2941498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descr="diagram showing different ways of structuring background secrtions"/>
          <p:cNvGraphicFramePr/>
          <p:nvPr>
            <p:extLst>
              <p:ext uri="{D42A27DB-BD31-4B8C-83A1-F6EECF244321}">
                <p14:modId xmlns:p14="http://schemas.microsoft.com/office/powerpoint/2010/main" val="4259921443"/>
              </p:ext>
            </p:extLst>
          </p:nvPr>
        </p:nvGraphicFramePr>
        <p:xfrm>
          <a:off x="2207568" y="2276873"/>
          <a:ext cx="7041570" cy="40415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89430653-0E59-4844-A6E5-DAD95841CA9D}"/>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5" name="Title 3">
            <a:extLst>
              <a:ext uri="{FF2B5EF4-FFF2-40B4-BE49-F238E27FC236}">
                <a16:creationId xmlns:a16="http://schemas.microsoft.com/office/drawing/2014/main" id="{19B2231B-F552-4AF9-A7C3-F7394740A88E}"/>
              </a:ext>
            </a:extLst>
          </p:cNvPr>
          <p:cNvSpPr txBox="1">
            <a:spLocks noGrp="1"/>
          </p:cNvSpPr>
          <p:nvPr>
            <p:ph type="title" idx="4294967295"/>
          </p:nvPr>
        </p:nvSpPr>
        <p:spPr>
          <a:xfrm>
            <a:off x="335448" y="648411"/>
            <a:ext cx="7041569" cy="895909"/>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400" b="0" i="0" u="none" strike="noStrike" kern="1200" cap="none" spc="0" normalizeH="0" baseline="0" noProof="0" dirty="0">
                <a:ln>
                  <a:noFill/>
                </a:ln>
                <a:solidFill>
                  <a:srgbClr val="A72B27"/>
                </a:solidFill>
                <a:effectLst/>
                <a:uLnTx/>
                <a:uFillTx/>
                <a:latin typeface="Lexia" panose="02060604030504030204" pitchFamily="18" charset="0"/>
                <a:ea typeface="+mj-ea"/>
                <a:cs typeface="+mj-cs"/>
              </a:rPr>
              <a:t>How do I structure the background section?</a:t>
            </a:r>
          </a:p>
        </p:txBody>
      </p:sp>
    </p:spTree>
    <p:custDataLst>
      <p:tags r:id="rId1"/>
    </p:custDataLst>
    <p:extLst>
      <p:ext uri="{BB962C8B-B14F-4D97-AF65-F5344CB8AC3E}">
        <p14:creationId xmlns:p14="http://schemas.microsoft.com/office/powerpoint/2010/main" val="1215581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A86B8726-EEFC-4249-B788-24DE482D6776}"/>
              </a:ext>
            </a:extLst>
          </p:cNvPr>
          <p:cNvSpPr txBox="1">
            <a:spLocks noGrp="1"/>
          </p:cNvSpPr>
          <p:nvPr>
            <p:ph type="title" idx="4294967295"/>
          </p:nvPr>
        </p:nvSpPr>
        <p:spPr>
          <a:xfrm>
            <a:off x="160401" y="190500"/>
            <a:ext cx="9636417"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YOUR QUESTION:</a:t>
            </a:r>
            <a:endParaRPr kumimoji="0" lang="en-GB"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endParaRPr>
          </a:p>
        </p:txBody>
      </p:sp>
      <p:sp>
        <p:nvSpPr>
          <p:cNvPr id="6" name="Content Placeholder 2">
            <a:extLst>
              <a:ext uri="{FF2B5EF4-FFF2-40B4-BE49-F238E27FC236}">
                <a16:creationId xmlns:a16="http://schemas.microsoft.com/office/drawing/2014/main" id="{E912FB5A-BF57-492C-A0E9-B87DF7BBCDA2}"/>
              </a:ext>
            </a:extLst>
          </p:cNvPr>
          <p:cNvSpPr txBox="1">
            <a:spLocks/>
          </p:cNvSpPr>
          <p:nvPr/>
        </p:nvSpPr>
        <p:spPr>
          <a:xfrm>
            <a:off x="688768" y="1236233"/>
            <a:ext cx="10515600" cy="508906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2000" b="1" dirty="0"/>
              <a:t>Complementary Datasets in Federated Learning</a:t>
            </a:r>
          </a:p>
          <a:p>
            <a:endParaRPr lang="en-GB" sz="2000" dirty="0"/>
          </a:p>
          <a:p>
            <a:pPr algn="l"/>
            <a:r>
              <a:rPr lang="en-GB" sz="2000" dirty="0"/>
              <a:t>Constraints/requirements Q-learning/deep-learning; strong mathematic skills</a:t>
            </a:r>
          </a:p>
          <a:p>
            <a:pPr algn="l"/>
            <a:r>
              <a:rPr lang="en-GB" sz="2000" b="1" dirty="0"/>
              <a:t>Description</a:t>
            </a:r>
          </a:p>
          <a:p>
            <a:pPr algn="l"/>
            <a:r>
              <a:rPr lang="en-GB" sz="2000" dirty="0"/>
              <a:t>Machine learning is a data-driven technology. The features of the datasets heavily influence the outcome of the machine</a:t>
            </a:r>
          </a:p>
          <a:p>
            <a:pPr algn="l"/>
            <a:r>
              <a:rPr lang="en-GB" sz="2000" dirty="0"/>
              <a:t>learning algorithms. This project includes </a:t>
            </a:r>
            <a:r>
              <a:rPr lang="en-GB" sz="2000" b="1" dirty="0"/>
              <a:t>dataset manipulation</a:t>
            </a:r>
            <a:r>
              <a:rPr lang="en-GB" sz="2000" dirty="0"/>
              <a:t>, the </a:t>
            </a:r>
            <a:r>
              <a:rPr lang="en-GB" sz="2000" b="1" dirty="0"/>
              <a:t>machine learning algorithm deployment</a:t>
            </a:r>
            <a:r>
              <a:rPr lang="en-GB" sz="2000" dirty="0"/>
              <a:t>, and the </a:t>
            </a:r>
            <a:r>
              <a:rPr lang="en-GB" sz="2000" b="1" dirty="0"/>
              <a:t>federated learning architecture</a:t>
            </a:r>
            <a:r>
              <a:rPr lang="en-GB" sz="2000" dirty="0"/>
              <a:t>. You will be analysing the learning accuracy and resource consumption of</a:t>
            </a:r>
          </a:p>
          <a:p>
            <a:pPr algn="l"/>
            <a:r>
              <a:rPr lang="en-GB" sz="2000" dirty="0"/>
              <a:t>the federated learning framework regarding different correlation factors of datasets.</a:t>
            </a:r>
          </a:p>
          <a:p>
            <a:pPr algn="l"/>
            <a:r>
              <a:rPr lang="en-GB" sz="2000" dirty="0"/>
              <a:t>Reading</a:t>
            </a:r>
          </a:p>
          <a:p>
            <a:pPr algn="l"/>
            <a:r>
              <a:rPr lang="en-GB" sz="2000" dirty="0"/>
              <a:t>• https://en.wikipedia.org/wiki/Federated_learning</a:t>
            </a:r>
          </a:p>
          <a:p>
            <a:endParaRPr lang="en-GB" sz="1800" b="1" dirty="0"/>
          </a:p>
          <a:p>
            <a:r>
              <a:rPr lang="en-GB" sz="1800" b="1" dirty="0">
                <a:solidFill>
                  <a:srgbClr val="C00000"/>
                </a:solidFill>
              </a:rPr>
              <a:t>	</a:t>
            </a:r>
          </a:p>
          <a:p>
            <a:endParaRPr lang="en-GB" sz="1800" b="1" dirty="0"/>
          </a:p>
          <a:p>
            <a:endParaRPr lang="en-GB" sz="1800" b="1" dirty="0"/>
          </a:p>
          <a:p>
            <a:endParaRPr lang="en-GB" sz="1800" b="1" dirty="0"/>
          </a:p>
          <a:p>
            <a:endParaRPr lang="en-GB" sz="1800" b="1" dirty="0"/>
          </a:p>
        </p:txBody>
      </p:sp>
    </p:spTree>
    <p:custDataLst>
      <p:tags r:id="rId1"/>
    </p:custDataLst>
    <p:extLst>
      <p:ext uri="{BB962C8B-B14F-4D97-AF65-F5344CB8AC3E}">
        <p14:creationId xmlns:p14="http://schemas.microsoft.com/office/powerpoint/2010/main" val="126168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A86B8726-EEFC-4249-B788-24DE482D6776}"/>
              </a:ext>
            </a:extLst>
          </p:cNvPr>
          <p:cNvSpPr txBox="1">
            <a:spLocks noGrp="1"/>
          </p:cNvSpPr>
          <p:nvPr>
            <p:ph type="title" idx="4294967295"/>
          </p:nvPr>
        </p:nvSpPr>
        <p:spPr>
          <a:xfrm>
            <a:off x="243719" y="889753"/>
            <a:ext cx="9636417" cy="113877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IDENTIFYING KEYWORDS FOR SEARCHING: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CAST YOUR NET AS WIDE AS YOU CAN BY USING </a:t>
            </a:r>
            <a:r>
              <a:rPr kumimoji="0" lang="en-US" sz="2000" b="1" i="0" u="none" strike="noStrike" kern="1200" cap="none" spc="0" normalizeH="0" baseline="0" noProof="0" dirty="0">
                <a:ln>
                  <a:noFill/>
                </a:ln>
                <a:solidFill>
                  <a:srgbClr val="A72B27"/>
                </a:solidFill>
                <a:effectLst/>
                <a:uLnTx/>
                <a:uFillTx/>
                <a:latin typeface="Lexia" panose="02060604030504030204" pitchFamily="18" charset="0"/>
                <a:ea typeface="+mn-ea"/>
                <a:cs typeface="+mn-cs"/>
              </a:rPr>
              <a:t>SYNONYMS</a:t>
            </a:r>
          </a:p>
        </p:txBody>
      </p:sp>
      <p:sp>
        <p:nvSpPr>
          <p:cNvPr id="6" name="Subtitle 1">
            <a:extLst>
              <a:ext uri="{FF2B5EF4-FFF2-40B4-BE49-F238E27FC236}">
                <a16:creationId xmlns:a16="http://schemas.microsoft.com/office/drawing/2014/main" id="{FBA4A7F2-FFC6-4723-BE46-DE1D6BD26066}"/>
              </a:ext>
            </a:extLst>
          </p:cNvPr>
          <p:cNvSpPr txBox="1">
            <a:spLocks/>
          </p:cNvSpPr>
          <p:nvPr/>
        </p:nvSpPr>
        <p:spPr>
          <a:xfrm>
            <a:off x="1225408" y="2783540"/>
            <a:ext cx="8820150" cy="2765711"/>
          </a:xfrm>
          <a:prstGeom prst="rect">
            <a:avLst/>
          </a:prstGeom>
        </p:spPr>
        <p:txBody>
          <a:bodyPr/>
          <a:lstStyle>
            <a:lvl1pPr marL="358775" marR="0" indent="-358775" algn="l" defTabSz="914400" rtl="0" eaLnBrk="1" fontAlgn="auto" latinLnBrk="0" hangingPunct="1">
              <a:lnSpc>
                <a:spcPct val="100000"/>
              </a:lnSpc>
              <a:spcBef>
                <a:spcPct val="20000"/>
              </a:spcBef>
              <a:spcAft>
                <a:spcPts val="0"/>
              </a:spcAft>
              <a:buClrTx/>
              <a:buSzTx/>
              <a:buFont typeface="Arial" pitchFamily="34" charset="0"/>
              <a:buChar char="•"/>
              <a:tabLst/>
              <a:defRPr sz="2400" kern="1200">
                <a:solidFill>
                  <a:srgbClr val="666666"/>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indent="0">
              <a:buNone/>
            </a:pPr>
            <a:r>
              <a:rPr lang="en-GB" sz="2000" b="1" dirty="0">
                <a:solidFill>
                  <a:srgbClr val="C00000"/>
                </a:solidFill>
                <a:latin typeface="Lexia" panose="02060604030504030204" pitchFamily="18" charset="0"/>
              </a:rPr>
              <a:t>“federated learn*” </a:t>
            </a:r>
            <a:r>
              <a:rPr lang="en-GB" sz="2000" dirty="0">
                <a:solidFill>
                  <a:srgbClr val="A72B27"/>
                </a:solidFill>
                <a:latin typeface="Lexia" panose="02060604030504030204" pitchFamily="18" charset="0"/>
              </a:rPr>
              <a:t>OR</a:t>
            </a:r>
            <a:r>
              <a:rPr lang="en-GB" sz="2000" dirty="0">
                <a:solidFill>
                  <a:schemeClr val="tx1"/>
                </a:solidFill>
                <a:latin typeface="Lexia" panose="02060604030504030204" pitchFamily="18" charset="0"/>
              </a:rPr>
              <a:t> “distributed learn*” </a:t>
            </a:r>
            <a:r>
              <a:rPr lang="en-GB" sz="2000" dirty="0">
                <a:solidFill>
                  <a:srgbClr val="A72B27"/>
                </a:solidFill>
                <a:latin typeface="Lexia" panose="02060604030504030204" pitchFamily="18" charset="0"/>
              </a:rPr>
              <a:t>OR</a:t>
            </a:r>
            <a:r>
              <a:rPr lang="en-GB" sz="2000" dirty="0">
                <a:solidFill>
                  <a:schemeClr val="tx1"/>
                </a:solidFill>
                <a:latin typeface="Lexia" panose="02060604030504030204" pitchFamily="18" charset="0"/>
              </a:rPr>
              <a:t> “collaborative learn*”</a:t>
            </a:r>
          </a:p>
          <a:p>
            <a:endParaRPr lang="en-GB" sz="2800" dirty="0">
              <a:latin typeface="Lexia" panose="02060604030504030204" pitchFamily="18" charset="0"/>
            </a:endParaRPr>
          </a:p>
          <a:p>
            <a:pPr marL="0" indent="0">
              <a:buNone/>
            </a:pPr>
            <a:endParaRPr lang="en-GB" sz="2800" b="1" dirty="0">
              <a:solidFill>
                <a:srgbClr val="C00000"/>
              </a:solidFill>
              <a:latin typeface="Lexia" panose="02060604030504030204" pitchFamily="18" charset="0"/>
            </a:endParaRPr>
          </a:p>
          <a:p>
            <a:pPr marL="0" indent="0">
              <a:buNone/>
            </a:pPr>
            <a:endParaRPr lang="en-GB" sz="2800" b="1" dirty="0">
              <a:solidFill>
                <a:srgbClr val="C00000"/>
              </a:solidFill>
              <a:latin typeface="Lexia" panose="02060604030504030204" pitchFamily="18" charset="0"/>
            </a:endParaRPr>
          </a:p>
        </p:txBody>
      </p:sp>
      <p:sp>
        <p:nvSpPr>
          <p:cNvPr id="9" name="Subtitle 1">
            <a:extLst>
              <a:ext uri="{FF2B5EF4-FFF2-40B4-BE49-F238E27FC236}">
                <a16:creationId xmlns:a16="http://schemas.microsoft.com/office/drawing/2014/main" id="{CF463830-F894-4568-8A6B-1E21194C2077}"/>
              </a:ext>
            </a:extLst>
          </p:cNvPr>
          <p:cNvSpPr txBox="1">
            <a:spLocks/>
          </p:cNvSpPr>
          <p:nvPr/>
        </p:nvSpPr>
        <p:spPr>
          <a:xfrm>
            <a:off x="1225408" y="3495516"/>
            <a:ext cx="3836520" cy="753036"/>
          </a:xfrm>
          <a:prstGeom prst="rect">
            <a:avLst/>
          </a:prstGeom>
        </p:spPr>
        <p:txBody>
          <a:bodyPr/>
          <a:lstStyle>
            <a:lvl1pPr marL="358775" marR="0" indent="-358775" algn="l" defTabSz="914400" rtl="0" eaLnBrk="1" fontAlgn="auto" latinLnBrk="0" hangingPunct="1">
              <a:lnSpc>
                <a:spcPct val="100000"/>
              </a:lnSpc>
              <a:spcBef>
                <a:spcPct val="20000"/>
              </a:spcBef>
              <a:spcAft>
                <a:spcPts val="0"/>
              </a:spcAft>
              <a:buClrTx/>
              <a:buSzTx/>
              <a:buFont typeface="Arial" pitchFamily="34" charset="0"/>
              <a:buChar char="•"/>
              <a:tabLst/>
              <a:defRPr sz="2400" kern="1200">
                <a:solidFill>
                  <a:srgbClr val="666666"/>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indent="0">
              <a:buNone/>
            </a:pPr>
            <a:endParaRPr lang="en-GB" sz="2000" b="1" dirty="0">
              <a:solidFill>
                <a:srgbClr val="C00000"/>
              </a:solidFill>
              <a:latin typeface="Lexia" panose="02060604030504030204" pitchFamily="18" charset="0"/>
            </a:endParaRPr>
          </a:p>
          <a:p>
            <a:pPr marL="0" indent="0">
              <a:buNone/>
            </a:pPr>
            <a:r>
              <a:rPr lang="en-GB" sz="2000" dirty="0">
                <a:solidFill>
                  <a:srgbClr val="A72B27"/>
                </a:solidFill>
                <a:latin typeface="Lexia" panose="02060604030504030204" pitchFamily="18" charset="0"/>
              </a:rPr>
              <a:t>data*</a:t>
            </a:r>
          </a:p>
          <a:p>
            <a:pPr marL="0" indent="0">
              <a:buNone/>
            </a:pPr>
            <a:endParaRPr lang="en-GB" sz="2000" b="1" dirty="0">
              <a:solidFill>
                <a:srgbClr val="C00000"/>
              </a:solidFill>
              <a:latin typeface="Lexia" panose="02060604030504030204" pitchFamily="18" charset="0"/>
            </a:endParaRPr>
          </a:p>
          <a:p>
            <a:pPr marL="0" indent="0">
              <a:buNone/>
            </a:pPr>
            <a:endParaRPr lang="en-GB" sz="2000" dirty="0">
              <a:solidFill>
                <a:schemeClr val="tx1"/>
              </a:solidFill>
              <a:latin typeface="Lexia" panose="02060604030504030204" pitchFamily="18" charset="0"/>
            </a:endParaRPr>
          </a:p>
        </p:txBody>
      </p:sp>
      <p:sp>
        <p:nvSpPr>
          <p:cNvPr id="2" name="TextBox 1">
            <a:extLst>
              <a:ext uri="{FF2B5EF4-FFF2-40B4-BE49-F238E27FC236}">
                <a16:creationId xmlns:a16="http://schemas.microsoft.com/office/drawing/2014/main" id="{C00D5691-3EBA-4A26-A35B-BF74B41CAD8B}"/>
              </a:ext>
            </a:extLst>
          </p:cNvPr>
          <p:cNvSpPr txBox="1"/>
          <p:nvPr/>
        </p:nvSpPr>
        <p:spPr>
          <a:xfrm>
            <a:off x="239983" y="4411950"/>
            <a:ext cx="777812" cy="400110"/>
          </a:xfrm>
          <a:prstGeom prst="rect">
            <a:avLst/>
          </a:prstGeom>
          <a:noFill/>
        </p:spPr>
        <p:txBody>
          <a:bodyPr wrap="square" rtlCol="0">
            <a:spAutoFit/>
          </a:bodyPr>
          <a:lstStyle/>
          <a:p>
            <a:r>
              <a:rPr lang="en-GB" sz="2000" b="1" dirty="0">
                <a:solidFill>
                  <a:srgbClr val="A72B27"/>
                </a:solidFill>
                <a:latin typeface="Lexia" panose="02060604030504030204" pitchFamily="18" charset="0"/>
              </a:rPr>
              <a:t>AND</a:t>
            </a:r>
          </a:p>
        </p:txBody>
      </p:sp>
      <p:sp>
        <p:nvSpPr>
          <p:cNvPr id="12" name="TextBox 11">
            <a:extLst>
              <a:ext uri="{FF2B5EF4-FFF2-40B4-BE49-F238E27FC236}">
                <a16:creationId xmlns:a16="http://schemas.microsoft.com/office/drawing/2014/main" id="{608397DD-11E2-458E-939F-E1F944367555}"/>
              </a:ext>
            </a:extLst>
          </p:cNvPr>
          <p:cNvSpPr txBox="1"/>
          <p:nvPr/>
        </p:nvSpPr>
        <p:spPr>
          <a:xfrm>
            <a:off x="239983" y="3429000"/>
            <a:ext cx="777812" cy="400110"/>
          </a:xfrm>
          <a:prstGeom prst="rect">
            <a:avLst/>
          </a:prstGeom>
          <a:noFill/>
        </p:spPr>
        <p:txBody>
          <a:bodyPr wrap="square" rtlCol="0">
            <a:spAutoFit/>
          </a:bodyPr>
          <a:lstStyle/>
          <a:p>
            <a:r>
              <a:rPr lang="en-GB" sz="2000" b="1" dirty="0">
                <a:solidFill>
                  <a:srgbClr val="A72B27"/>
                </a:solidFill>
                <a:latin typeface="Lexia" panose="02060604030504030204" pitchFamily="18" charset="0"/>
              </a:rPr>
              <a:t>AND</a:t>
            </a:r>
          </a:p>
        </p:txBody>
      </p:sp>
      <p:sp>
        <p:nvSpPr>
          <p:cNvPr id="13" name="Subtitle 1">
            <a:extLst>
              <a:ext uri="{FF2B5EF4-FFF2-40B4-BE49-F238E27FC236}">
                <a16:creationId xmlns:a16="http://schemas.microsoft.com/office/drawing/2014/main" id="{3BF3A008-F7F7-468B-8EE7-284861B4C405}"/>
              </a:ext>
            </a:extLst>
          </p:cNvPr>
          <p:cNvSpPr txBox="1">
            <a:spLocks/>
          </p:cNvSpPr>
          <p:nvPr/>
        </p:nvSpPr>
        <p:spPr>
          <a:xfrm>
            <a:off x="1225408" y="4480651"/>
            <a:ext cx="3836520" cy="959754"/>
          </a:xfrm>
          <a:prstGeom prst="rect">
            <a:avLst/>
          </a:prstGeom>
        </p:spPr>
        <p:txBody>
          <a:bodyPr/>
          <a:lstStyle>
            <a:lvl1pPr marL="358775" marR="0" indent="-358775" algn="l" defTabSz="914400" rtl="0" eaLnBrk="1" fontAlgn="auto" latinLnBrk="0" hangingPunct="1">
              <a:lnSpc>
                <a:spcPct val="100000"/>
              </a:lnSpc>
              <a:spcBef>
                <a:spcPct val="20000"/>
              </a:spcBef>
              <a:spcAft>
                <a:spcPts val="0"/>
              </a:spcAft>
              <a:buClrTx/>
              <a:buSzTx/>
              <a:buFont typeface="Arial" pitchFamily="34" charset="0"/>
              <a:buChar char="•"/>
              <a:tabLst/>
              <a:defRPr sz="2400" kern="1200">
                <a:solidFill>
                  <a:srgbClr val="666666"/>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indent="0">
              <a:buNone/>
            </a:pPr>
            <a:endParaRPr lang="en-GB" sz="2000" b="1" dirty="0">
              <a:solidFill>
                <a:srgbClr val="C00000"/>
              </a:solidFill>
              <a:latin typeface="Lexia" panose="02060604030504030204" pitchFamily="18" charset="0"/>
            </a:endParaRPr>
          </a:p>
          <a:p>
            <a:pPr marL="0" indent="0">
              <a:buNone/>
            </a:pPr>
            <a:r>
              <a:rPr lang="en-GB" sz="2000" dirty="0" err="1">
                <a:solidFill>
                  <a:srgbClr val="A72B27"/>
                </a:solidFill>
                <a:latin typeface="Lexia" panose="02060604030504030204" pitchFamily="18" charset="0"/>
              </a:rPr>
              <a:t>manipulat</a:t>
            </a:r>
            <a:r>
              <a:rPr lang="en-GB" sz="2000" dirty="0">
                <a:solidFill>
                  <a:srgbClr val="A72B27"/>
                </a:solidFill>
                <a:latin typeface="Lexia" panose="02060604030504030204" pitchFamily="18" charset="0"/>
              </a:rPr>
              <a:t>*</a:t>
            </a:r>
          </a:p>
          <a:p>
            <a:pPr marL="0" indent="0">
              <a:buNone/>
            </a:pPr>
            <a:endParaRPr lang="en-GB" sz="2000" dirty="0">
              <a:solidFill>
                <a:srgbClr val="A72B27"/>
              </a:solidFill>
              <a:latin typeface="Lexia" panose="02060604030504030204" pitchFamily="18" charset="0"/>
            </a:endParaRPr>
          </a:p>
          <a:p>
            <a:pPr marL="0" indent="0">
              <a:buNone/>
            </a:pPr>
            <a:endParaRPr lang="en-GB" sz="2000" b="1" dirty="0">
              <a:solidFill>
                <a:srgbClr val="C00000"/>
              </a:solidFill>
              <a:latin typeface="Lexia" panose="02060604030504030204" pitchFamily="18" charset="0"/>
            </a:endParaRPr>
          </a:p>
          <a:p>
            <a:pPr marL="0" indent="0">
              <a:buNone/>
            </a:pPr>
            <a:endParaRPr lang="en-GB" sz="2000" dirty="0">
              <a:solidFill>
                <a:schemeClr val="tx1"/>
              </a:solidFill>
              <a:latin typeface="Lexia" panose="02060604030504030204" pitchFamily="18" charset="0"/>
            </a:endParaRPr>
          </a:p>
        </p:txBody>
      </p:sp>
    </p:spTree>
    <p:custDataLst>
      <p:tags r:id="rId1"/>
    </p:custDataLst>
    <p:extLst>
      <p:ext uri="{BB962C8B-B14F-4D97-AF65-F5344CB8AC3E}">
        <p14:creationId xmlns:p14="http://schemas.microsoft.com/office/powerpoint/2010/main" val="404903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A86B8726-EEFC-4249-B788-24DE482D6776}"/>
              </a:ext>
            </a:extLst>
          </p:cNvPr>
          <p:cNvSpPr txBox="1">
            <a:spLocks noGrp="1"/>
          </p:cNvSpPr>
          <p:nvPr>
            <p:ph type="title" idx="4294967295"/>
          </p:nvPr>
        </p:nvSpPr>
        <p:spPr>
          <a:xfrm>
            <a:off x="212432" y="1333559"/>
            <a:ext cx="9636417"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SEARCHING TIPS AND TRICKS:</a:t>
            </a:r>
            <a:endParaRPr kumimoji="0" lang="en-GB"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endParaRPr>
          </a:p>
        </p:txBody>
      </p:sp>
      <p:sp>
        <p:nvSpPr>
          <p:cNvPr id="7" name="Content Placeholder 2">
            <a:extLst>
              <a:ext uri="{FF2B5EF4-FFF2-40B4-BE49-F238E27FC236}">
                <a16:creationId xmlns:a16="http://schemas.microsoft.com/office/drawing/2014/main" id="{6F339B7B-1E75-423C-B997-1DB816173549}"/>
              </a:ext>
            </a:extLst>
          </p:cNvPr>
          <p:cNvSpPr txBox="1">
            <a:spLocks/>
          </p:cNvSpPr>
          <p:nvPr/>
        </p:nvSpPr>
        <p:spPr>
          <a:xfrm>
            <a:off x="581192" y="2340864"/>
            <a:ext cx="11029615" cy="363448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200" b="1" dirty="0"/>
              <a:t>Truncation *</a:t>
            </a:r>
          </a:p>
          <a:p>
            <a:pPr algn="l"/>
            <a:r>
              <a:rPr lang="en-GB" sz="2200" dirty="0">
                <a:solidFill>
                  <a:schemeClr val="tx1">
                    <a:lumMod val="65000"/>
                    <a:lumOff val="35000"/>
                  </a:schemeClr>
                </a:solidFill>
              </a:rPr>
              <a:t>	</a:t>
            </a:r>
            <a:r>
              <a:rPr lang="en-GB" sz="2200" dirty="0"/>
              <a:t>data</a:t>
            </a:r>
            <a:r>
              <a:rPr lang="en-GB" sz="2200" b="1" dirty="0">
                <a:solidFill>
                  <a:srgbClr val="A72B27"/>
                </a:solidFill>
              </a:rPr>
              <a:t>*</a:t>
            </a:r>
          </a:p>
          <a:p>
            <a:pPr algn="l"/>
            <a:r>
              <a:rPr lang="en-GB" sz="2200" i="1" dirty="0">
                <a:solidFill>
                  <a:schemeClr val="tx1">
                    <a:lumMod val="65000"/>
                    <a:lumOff val="35000"/>
                  </a:schemeClr>
                </a:solidFill>
              </a:rPr>
              <a:t>	</a:t>
            </a:r>
            <a:r>
              <a:rPr lang="en-GB" sz="2200" b="1" i="1" dirty="0">
                <a:solidFill>
                  <a:schemeClr val="tx1">
                    <a:lumMod val="65000"/>
                    <a:lumOff val="35000"/>
                  </a:schemeClr>
                </a:solidFill>
              </a:rPr>
              <a:t> </a:t>
            </a:r>
            <a:r>
              <a:rPr lang="en-GB" sz="2200" i="1" dirty="0"/>
              <a:t>finds: data, dataset, datasets etc.</a:t>
            </a:r>
            <a:endParaRPr lang="en-GB" sz="2200" dirty="0"/>
          </a:p>
          <a:p>
            <a:pPr algn="l"/>
            <a:r>
              <a:rPr lang="en-GB" sz="2200" b="1" dirty="0"/>
              <a:t>Phrase searching </a:t>
            </a:r>
            <a:r>
              <a:rPr lang="en-GB" sz="2200" b="1" dirty="0">
                <a:solidFill>
                  <a:srgbClr val="A72B27"/>
                </a:solidFill>
              </a:rPr>
              <a:t>“”</a:t>
            </a:r>
          </a:p>
          <a:p>
            <a:pPr algn="l"/>
            <a:r>
              <a:rPr lang="en-GB" sz="2200" b="1" dirty="0">
                <a:solidFill>
                  <a:schemeClr val="tx1">
                    <a:lumMod val="65000"/>
                    <a:lumOff val="35000"/>
                  </a:schemeClr>
                </a:solidFill>
              </a:rPr>
              <a:t>	</a:t>
            </a:r>
            <a:r>
              <a:rPr lang="en-GB" sz="2800" b="1" dirty="0">
                <a:solidFill>
                  <a:srgbClr val="A72B27"/>
                </a:solidFill>
              </a:rPr>
              <a:t>“</a:t>
            </a:r>
            <a:r>
              <a:rPr lang="en-GB" sz="2200" dirty="0"/>
              <a:t>federated learning</a:t>
            </a:r>
            <a:r>
              <a:rPr lang="en-GB" sz="2800" b="1" dirty="0">
                <a:solidFill>
                  <a:srgbClr val="A72B27"/>
                </a:solidFill>
              </a:rPr>
              <a:t>”</a:t>
            </a:r>
            <a:r>
              <a:rPr lang="en-GB" sz="2200" b="1" dirty="0">
                <a:solidFill>
                  <a:srgbClr val="A72B27"/>
                </a:solidFill>
              </a:rPr>
              <a:t> </a:t>
            </a:r>
            <a:r>
              <a:rPr lang="en-GB" sz="2200" dirty="0"/>
              <a:t>finds that exact phrase</a:t>
            </a:r>
          </a:p>
          <a:p>
            <a:pPr algn="l"/>
            <a:endParaRPr lang="en-GB" sz="2200" dirty="0"/>
          </a:p>
          <a:p>
            <a:pPr marL="57150" algn="l"/>
            <a:r>
              <a:rPr lang="en-GB" sz="2200" b="1" dirty="0"/>
              <a:t>Spelling and plural variations ?</a:t>
            </a:r>
          </a:p>
          <a:p>
            <a:pPr marL="57150" algn="l"/>
            <a:r>
              <a:rPr lang="en-GB" sz="2200" b="1" dirty="0">
                <a:solidFill>
                  <a:schemeClr val="tx1">
                    <a:lumMod val="65000"/>
                    <a:lumOff val="35000"/>
                  </a:schemeClr>
                </a:solidFill>
              </a:rPr>
              <a:t>	</a:t>
            </a:r>
            <a:r>
              <a:rPr lang="en-GB" sz="2200" dirty="0" err="1">
                <a:solidFill>
                  <a:schemeClr val="tx1">
                    <a:lumMod val="65000"/>
                    <a:lumOff val="35000"/>
                  </a:schemeClr>
                </a:solidFill>
              </a:rPr>
              <a:t>behavio</a:t>
            </a:r>
            <a:r>
              <a:rPr lang="en-GB" sz="2200" b="1" dirty="0" err="1">
                <a:solidFill>
                  <a:srgbClr val="A72B27"/>
                </a:solidFill>
              </a:rPr>
              <a:t>?</a:t>
            </a:r>
            <a:r>
              <a:rPr lang="en-GB" sz="2200" dirty="0" err="1">
                <a:solidFill>
                  <a:schemeClr val="tx1">
                    <a:lumMod val="65000"/>
                    <a:lumOff val="35000"/>
                  </a:schemeClr>
                </a:solidFill>
              </a:rPr>
              <a:t>r</a:t>
            </a:r>
            <a:r>
              <a:rPr lang="en-GB" sz="2200" dirty="0">
                <a:solidFill>
                  <a:schemeClr val="tx1">
                    <a:lumMod val="65000"/>
                    <a:lumOff val="35000"/>
                  </a:schemeClr>
                </a:solidFill>
              </a:rPr>
              <a:t> </a:t>
            </a:r>
            <a:r>
              <a:rPr lang="en-GB" sz="2200" b="1" dirty="0">
                <a:solidFill>
                  <a:schemeClr val="tx1">
                    <a:lumMod val="65000"/>
                    <a:lumOff val="35000"/>
                  </a:schemeClr>
                </a:solidFill>
              </a:rPr>
              <a:t>finds</a:t>
            </a:r>
            <a:r>
              <a:rPr lang="en-GB" sz="2200" dirty="0">
                <a:solidFill>
                  <a:schemeClr val="tx1">
                    <a:lumMod val="65000"/>
                    <a:lumOff val="35000"/>
                  </a:schemeClr>
                </a:solidFill>
              </a:rPr>
              <a:t>  behaviour + </a:t>
            </a:r>
            <a:r>
              <a:rPr lang="en-GB" sz="2200" dirty="0" err="1">
                <a:solidFill>
                  <a:schemeClr val="tx1">
                    <a:lumMod val="65000"/>
                    <a:lumOff val="35000"/>
                  </a:schemeClr>
                </a:solidFill>
              </a:rPr>
              <a:t>behavior</a:t>
            </a:r>
            <a:endParaRPr lang="en-GB" sz="2200" dirty="0">
              <a:solidFill>
                <a:schemeClr val="tx1">
                  <a:lumMod val="65000"/>
                  <a:lumOff val="35000"/>
                </a:schemeClr>
              </a:solidFill>
            </a:endParaRPr>
          </a:p>
          <a:p>
            <a:pPr algn="l"/>
            <a:endParaRPr lang="en-GB" dirty="0"/>
          </a:p>
        </p:txBody>
      </p:sp>
    </p:spTree>
    <p:custDataLst>
      <p:tags r:id="rId1"/>
    </p:custDataLst>
    <p:extLst>
      <p:ext uri="{BB962C8B-B14F-4D97-AF65-F5344CB8AC3E}">
        <p14:creationId xmlns:p14="http://schemas.microsoft.com/office/powerpoint/2010/main" val="1399656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A86B8726-EEFC-4249-B788-24DE482D6776}"/>
              </a:ext>
            </a:extLst>
          </p:cNvPr>
          <p:cNvSpPr txBox="1">
            <a:spLocks noGrp="1"/>
          </p:cNvSpPr>
          <p:nvPr>
            <p:ph type="title" idx="4294967295"/>
          </p:nvPr>
        </p:nvSpPr>
        <p:spPr>
          <a:xfrm>
            <a:off x="288632" y="876300"/>
            <a:ext cx="9636417"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WHERE TO SEARCH:</a:t>
            </a:r>
            <a:endParaRPr kumimoji="0" lang="en-GB"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endParaRPr>
          </a:p>
        </p:txBody>
      </p:sp>
      <p:sp>
        <p:nvSpPr>
          <p:cNvPr id="7" name="Content Placeholder 2">
            <a:extLst>
              <a:ext uri="{FF2B5EF4-FFF2-40B4-BE49-F238E27FC236}">
                <a16:creationId xmlns:a16="http://schemas.microsoft.com/office/drawing/2014/main" id="{A719F68A-BF77-4025-BA30-FB25B2EBFCF7}"/>
              </a:ext>
            </a:extLst>
          </p:cNvPr>
          <p:cNvSpPr txBox="1">
            <a:spLocks/>
          </p:cNvSpPr>
          <p:nvPr/>
        </p:nvSpPr>
        <p:spPr>
          <a:xfrm>
            <a:off x="581192" y="2546348"/>
            <a:ext cx="11029615" cy="363448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b="1" dirty="0" err="1">
                <a:solidFill>
                  <a:srgbClr val="A72B27"/>
                </a:solidFill>
                <a:latin typeface="Lexia" panose="02060604030504030204" pitchFamily="18" charset="0"/>
                <a:hlinkClick r:id="rId4">
                  <a:extLst>
                    <a:ext uri="{A12FA001-AC4F-418D-AE19-62706E023703}">
                      <ahyp:hlinkClr xmlns:ahyp="http://schemas.microsoft.com/office/drawing/2018/hyperlinkcolor" val="tx"/>
                    </a:ext>
                  </a:extLst>
                </a:hlinkClick>
              </a:rPr>
              <a:t>OneSearch</a:t>
            </a:r>
            <a:r>
              <a:rPr lang="en-GB" b="1" dirty="0">
                <a:solidFill>
                  <a:srgbClr val="A72B27"/>
                </a:solidFill>
                <a:latin typeface="Lexia" panose="02060604030504030204" pitchFamily="18" charset="0"/>
              </a:rPr>
              <a:t> </a:t>
            </a:r>
            <a:r>
              <a:rPr lang="en-GB" b="1" dirty="0" err="1">
                <a:solidFill>
                  <a:srgbClr val="A72B27"/>
                </a:solidFill>
                <a:latin typeface="Lexia" panose="02060604030504030204" pitchFamily="18" charset="0"/>
              </a:rPr>
              <a:t>ebooks</a:t>
            </a:r>
            <a:r>
              <a:rPr lang="en-GB" b="1" dirty="0">
                <a:solidFill>
                  <a:srgbClr val="A72B27"/>
                </a:solidFill>
                <a:latin typeface="Lexia" panose="02060604030504030204" pitchFamily="18" charset="0"/>
              </a:rPr>
              <a:t>/articles</a:t>
            </a:r>
            <a:endParaRPr lang="en-GB" b="1" dirty="0">
              <a:solidFill>
                <a:srgbClr val="A72B27"/>
              </a:solidFill>
              <a:latin typeface="Lexia" panose="02060604030504030204" pitchFamily="18" charset="0"/>
              <a:hlinkClick r:id="rId5">
                <a:extLst>
                  <a:ext uri="{A12FA001-AC4F-418D-AE19-62706E023703}">
                    <ahyp:hlinkClr xmlns:ahyp="http://schemas.microsoft.com/office/drawing/2018/hyperlinkcolor" val="tx"/>
                  </a:ext>
                </a:extLst>
              </a:hlinkClick>
            </a:endParaRPr>
          </a:p>
          <a:p>
            <a:pPr algn="l"/>
            <a:r>
              <a:rPr lang="en-GB" b="1" dirty="0">
                <a:solidFill>
                  <a:srgbClr val="A72B27"/>
                </a:solidFill>
                <a:latin typeface="Lexia" panose="02060604030504030204" pitchFamily="18" charset="0"/>
                <a:hlinkClick r:id="rId5">
                  <a:extLst>
                    <a:ext uri="{A12FA001-AC4F-418D-AE19-62706E023703}">
                      <ahyp:hlinkClr xmlns:ahyp="http://schemas.microsoft.com/office/drawing/2018/hyperlinkcolor" val="tx"/>
                    </a:ext>
                  </a:extLst>
                </a:hlinkClick>
              </a:rPr>
              <a:t>Scopus</a:t>
            </a:r>
            <a:r>
              <a:rPr lang="en-GB" b="1" dirty="0">
                <a:solidFill>
                  <a:srgbClr val="A72B27"/>
                </a:solidFill>
                <a:latin typeface="Lexia" panose="02060604030504030204" pitchFamily="18" charset="0"/>
              </a:rPr>
              <a:t>  articles/conference proceedings</a:t>
            </a:r>
          </a:p>
          <a:p>
            <a:pPr algn="l"/>
            <a:r>
              <a:rPr lang="en-GB" b="1" dirty="0">
                <a:solidFill>
                  <a:srgbClr val="A72B27"/>
                </a:solidFill>
                <a:latin typeface="Lexia" panose="02060604030504030204" pitchFamily="18" charset="0"/>
                <a:hlinkClick r:id="rId6">
                  <a:extLst>
                    <a:ext uri="{A12FA001-AC4F-418D-AE19-62706E023703}">
                      <ahyp:hlinkClr xmlns:ahyp="http://schemas.microsoft.com/office/drawing/2018/hyperlinkcolor" val="tx"/>
                    </a:ext>
                  </a:extLst>
                </a:hlinkClick>
              </a:rPr>
              <a:t>Web of Science</a:t>
            </a:r>
            <a:endParaRPr lang="en-GB" dirty="0">
              <a:solidFill>
                <a:srgbClr val="A72B27"/>
              </a:solidFill>
              <a:latin typeface="Lexia" panose="02060604030504030204" pitchFamily="18" charset="0"/>
            </a:endParaRPr>
          </a:p>
          <a:p>
            <a:pPr algn="l"/>
            <a:r>
              <a:rPr lang="en-GB" b="1" dirty="0">
                <a:solidFill>
                  <a:srgbClr val="A72B27"/>
                </a:solidFill>
                <a:latin typeface="Lexia" panose="02060604030504030204" pitchFamily="18" charset="0"/>
                <a:hlinkClick r:id="rId7"/>
              </a:rPr>
              <a:t>Leipzig Library Guide</a:t>
            </a:r>
            <a:r>
              <a:rPr lang="en-GB" b="1" dirty="0">
                <a:solidFill>
                  <a:srgbClr val="A72B27"/>
                </a:solidFill>
                <a:latin typeface="Lexia" panose="02060604030504030204" pitchFamily="18" charset="0"/>
              </a:rPr>
              <a:t> contains all relevant LU library links.</a:t>
            </a:r>
          </a:p>
          <a:p>
            <a:pPr algn="l"/>
            <a:r>
              <a:rPr lang="en-GB" b="1" dirty="0" err="1">
                <a:solidFill>
                  <a:srgbClr val="A72B27"/>
                </a:solidFill>
                <a:latin typeface="Lexia" panose="02060604030504030204" pitchFamily="18" charset="0"/>
                <a:hlinkClick r:id="rId8">
                  <a:extLst>
                    <a:ext uri="{A12FA001-AC4F-418D-AE19-62706E023703}">
                      <ahyp:hlinkClr xmlns:ahyp="http://schemas.microsoft.com/office/drawing/2018/hyperlinkcolor" val="tx"/>
                    </a:ext>
                  </a:extLst>
                </a:hlinkClick>
              </a:rPr>
              <a:t>LinkedINLearning</a:t>
            </a:r>
            <a:r>
              <a:rPr lang="en-GB" b="1" dirty="0">
                <a:solidFill>
                  <a:srgbClr val="A72B27"/>
                </a:solidFill>
                <a:latin typeface="Lexia" panose="02060604030504030204" pitchFamily="18" charset="0"/>
              </a:rPr>
              <a:t> Python, SQL, Azure, R, SPSS, </a:t>
            </a:r>
            <a:r>
              <a:rPr lang="en-GB" b="1" dirty="0" err="1">
                <a:solidFill>
                  <a:srgbClr val="A72B27"/>
                </a:solidFill>
                <a:latin typeface="Lexia" panose="02060604030504030204" pitchFamily="18" charset="0"/>
              </a:rPr>
              <a:t>DevOPS</a:t>
            </a:r>
            <a:r>
              <a:rPr lang="en-GB" b="1" dirty="0">
                <a:solidFill>
                  <a:srgbClr val="A72B27"/>
                </a:solidFill>
                <a:latin typeface="Lexia" panose="02060604030504030204" pitchFamily="18" charset="0"/>
              </a:rPr>
              <a:t> and so much more!</a:t>
            </a:r>
          </a:p>
          <a:p>
            <a:pPr algn="l"/>
            <a:endParaRPr lang="en-GB" b="1" dirty="0">
              <a:solidFill>
                <a:srgbClr val="A72B27"/>
              </a:solidFill>
              <a:latin typeface="Lexia" panose="02060604030504030204" pitchFamily="18" charset="0"/>
              <a:hlinkClick r:id="rId9">
                <a:extLst>
                  <a:ext uri="{A12FA001-AC4F-418D-AE19-62706E023703}">
                    <ahyp:hlinkClr xmlns:ahyp="http://schemas.microsoft.com/office/drawing/2018/hyperlinkcolor" val="tx"/>
                  </a:ext>
                </a:extLst>
              </a:hlinkClick>
            </a:endParaRPr>
          </a:p>
          <a:p>
            <a:pPr algn="l"/>
            <a:endParaRPr lang="en-GB" dirty="0"/>
          </a:p>
          <a:p>
            <a:pPr algn="l"/>
            <a:endParaRPr lang="en-GB" dirty="0"/>
          </a:p>
        </p:txBody>
      </p:sp>
    </p:spTree>
    <p:custDataLst>
      <p:tags r:id="rId1"/>
    </p:custDataLst>
    <p:extLst>
      <p:ext uri="{BB962C8B-B14F-4D97-AF65-F5344CB8AC3E}">
        <p14:creationId xmlns:p14="http://schemas.microsoft.com/office/powerpoint/2010/main" val="1902683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A86B8726-EEFC-4249-B788-24DE482D6776}"/>
              </a:ext>
            </a:extLst>
          </p:cNvPr>
          <p:cNvSpPr txBox="1">
            <a:spLocks noGrp="1"/>
          </p:cNvSpPr>
          <p:nvPr>
            <p:ph type="title" idx="4294967295"/>
          </p:nvPr>
        </p:nvSpPr>
        <p:spPr>
          <a:xfrm>
            <a:off x="288632" y="876300"/>
            <a:ext cx="9636417"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WHERE TO SEARCH:</a:t>
            </a:r>
            <a:endParaRPr kumimoji="0" lang="en-GB"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endParaRPr>
          </a:p>
        </p:txBody>
      </p:sp>
      <p:pic>
        <p:nvPicPr>
          <p:cNvPr id="3" name="Picture 2" descr="A screenshot of a results list in OneSearch library search engine">
            <a:extLst>
              <a:ext uri="{FF2B5EF4-FFF2-40B4-BE49-F238E27FC236}">
                <a16:creationId xmlns:a16="http://schemas.microsoft.com/office/drawing/2014/main" id="{D6BD8967-BA2D-BAE7-9125-CCBD3F0F26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1751" y="1562100"/>
            <a:ext cx="10254611" cy="5056547"/>
          </a:xfrm>
          <a:prstGeom prst="rect">
            <a:avLst/>
          </a:prstGeom>
        </p:spPr>
      </p:pic>
    </p:spTree>
    <p:custDataLst>
      <p:tags r:id="rId1"/>
    </p:custDataLst>
    <p:extLst>
      <p:ext uri="{BB962C8B-B14F-4D97-AF65-F5344CB8AC3E}">
        <p14:creationId xmlns:p14="http://schemas.microsoft.com/office/powerpoint/2010/main" val="1331823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A86B8726-EEFC-4249-B788-24DE482D6776}"/>
              </a:ext>
            </a:extLst>
          </p:cNvPr>
          <p:cNvSpPr txBox="1">
            <a:spLocks noGrp="1"/>
          </p:cNvSpPr>
          <p:nvPr>
            <p:ph type="title" idx="4294967295"/>
          </p:nvPr>
        </p:nvSpPr>
        <p:spPr>
          <a:xfrm>
            <a:off x="288632" y="876300"/>
            <a:ext cx="9636417" cy="110799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EXAMPLE OF A SCOPUS SEARCH: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 </a:t>
            </a:r>
            <a:endParaRPr kumimoji="0" lang="en-GB"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endParaRPr>
          </a:p>
        </p:txBody>
      </p:sp>
      <p:pic>
        <p:nvPicPr>
          <p:cNvPr id="3" name="Picture 2" descr="screenshot showing Scopus Advanced search">
            <a:extLst>
              <a:ext uri="{FF2B5EF4-FFF2-40B4-BE49-F238E27FC236}">
                <a16:creationId xmlns:a16="http://schemas.microsoft.com/office/drawing/2014/main" id="{5780758D-AC73-4F35-B8AA-A69EAC5D2D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299" y="1729680"/>
            <a:ext cx="11047323" cy="4937819"/>
          </a:xfrm>
          <a:prstGeom prst="rect">
            <a:avLst/>
          </a:prstGeom>
        </p:spPr>
      </p:pic>
    </p:spTree>
    <p:custDataLst>
      <p:tags r:id="rId1"/>
    </p:custDataLst>
    <p:extLst>
      <p:ext uri="{BB962C8B-B14F-4D97-AF65-F5344CB8AC3E}">
        <p14:creationId xmlns:p14="http://schemas.microsoft.com/office/powerpoint/2010/main" val="3758030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showing scopus results page">
            <a:extLst>
              <a:ext uri="{FF2B5EF4-FFF2-40B4-BE49-F238E27FC236}">
                <a16:creationId xmlns:a16="http://schemas.microsoft.com/office/drawing/2014/main" id="{4CA96F7D-1EFD-418B-8D61-A853672D23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511" y="1568797"/>
            <a:ext cx="11192614" cy="4864276"/>
          </a:xfrm>
          <a:prstGeom prst="rect">
            <a:avLst/>
          </a:prstGeom>
        </p:spPr>
      </p:pic>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A86B8726-EEFC-4249-B788-24DE482D6776}"/>
              </a:ext>
            </a:extLst>
          </p:cNvPr>
          <p:cNvSpPr txBox="1">
            <a:spLocks noGrp="1"/>
          </p:cNvSpPr>
          <p:nvPr>
            <p:ph type="title" idx="4294967295"/>
          </p:nvPr>
        </p:nvSpPr>
        <p:spPr>
          <a:xfrm>
            <a:off x="288632" y="876300"/>
            <a:ext cx="9636417" cy="138499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SCOPUS RESULTS PAGE: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C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endParaRPr>
          </a:p>
        </p:txBody>
      </p:sp>
      <p:sp>
        <p:nvSpPr>
          <p:cNvPr id="7" name="Rectangle 6">
            <a:extLst>
              <a:ext uri="{FF2B5EF4-FFF2-40B4-BE49-F238E27FC236}">
                <a16:creationId xmlns:a16="http://schemas.microsoft.com/office/drawing/2014/main" id="{7D15356A-C3AB-4A3E-B9CD-C6AC2314D83A}"/>
              </a:ext>
              <a:ext uri="{C183D7F6-B498-43B3-948B-1728B52AA6E4}">
                <adec:decorative xmlns:adec="http://schemas.microsoft.com/office/drawing/2017/decorative" val="1"/>
              </a:ext>
            </a:extLst>
          </p:cNvPr>
          <p:cNvSpPr/>
          <p:nvPr/>
        </p:nvSpPr>
        <p:spPr>
          <a:xfrm>
            <a:off x="2941619" y="3507099"/>
            <a:ext cx="2006899" cy="413185"/>
          </a:xfrm>
          <a:prstGeom prst="rect">
            <a:avLst/>
          </a:prstGeom>
          <a:noFill/>
          <a:ln w="38100">
            <a:solidFill>
              <a:srgbClr val="A72B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250055D0-8CB3-4B00-AC7E-F10BFBF995CA}"/>
              </a:ext>
              <a:ext uri="{C183D7F6-B498-43B3-948B-1728B52AA6E4}">
                <adec:decorative xmlns:adec="http://schemas.microsoft.com/office/drawing/2017/decorative" val="1"/>
              </a:ext>
            </a:extLst>
          </p:cNvPr>
          <p:cNvSpPr/>
          <p:nvPr/>
        </p:nvSpPr>
        <p:spPr>
          <a:xfrm>
            <a:off x="8582847" y="3436444"/>
            <a:ext cx="2418080" cy="497840"/>
          </a:xfrm>
          <a:prstGeom prst="rect">
            <a:avLst/>
          </a:prstGeom>
          <a:noFill/>
          <a:ln w="38100">
            <a:solidFill>
              <a:srgbClr val="A72B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7DFC8856-ACF4-4711-8AF4-11761DDFD614}"/>
              </a:ext>
              <a:ext uri="{C183D7F6-B498-43B3-948B-1728B52AA6E4}">
                <adec:decorative xmlns:adec="http://schemas.microsoft.com/office/drawing/2017/decorative" val="1"/>
              </a:ext>
            </a:extLst>
          </p:cNvPr>
          <p:cNvSpPr/>
          <p:nvPr/>
        </p:nvSpPr>
        <p:spPr>
          <a:xfrm>
            <a:off x="10689663" y="4436918"/>
            <a:ext cx="668462" cy="408708"/>
          </a:xfrm>
          <a:prstGeom prst="rect">
            <a:avLst/>
          </a:prstGeom>
          <a:noFill/>
          <a:ln w="38100">
            <a:solidFill>
              <a:srgbClr val="A72B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37CF01CC-73C7-4A1F-B2B3-81BC07D589B0}"/>
              </a:ext>
              <a:ext uri="{C183D7F6-B498-43B3-948B-1728B52AA6E4}">
                <adec:decorative xmlns:adec="http://schemas.microsoft.com/office/drawing/2017/decorative" val="1"/>
              </a:ext>
            </a:extLst>
          </p:cNvPr>
          <p:cNvSpPr/>
          <p:nvPr/>
        </p:nvSpPr>
        <p:spPr>
          <a:xfrm>
            <a:off x="165512" y="3568343"/>
            <a:ext cx="1157680" cy="436595"/>
          </a:xfrm>
          <a:prstGeom prst="rect">
            <a:avLst/>
          </a:prstGeom>
          <a:noFill/>
          <a:ln w="38100">
            <a:solidFill>
              <a:srgbClr val="A72B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F9A6DE06-0B94-4D4A-85FB-0E9E8E368335}"/>
              </a:ext>
              <a:ext uri="{C183D7F6-B498-43B3-948B-1728B52AA6E4}">
                <adec:decorative xmlns:adec="http://schemas.microsoft.com/office/drawing/2017/decorative" val="1"/>
              </a:ext>
            </a:extLst>
          </p:cNvPr>
          <p:cNvSpPr/>
          <p:nvPr/>
        </p:nvSpPr>
        <p:spPr>
          <a:xfrm>
            <a:off x="3607175" y="3990086"/>
            <a:ext cx="675785" cy="413185"/>
          </a:xfrm>
          <a:prstGeom prst="rect">
            <a:avLst/>
          </a:prstGeom>
          <a:noFill/>
          <a:ln w="38100">
            <a:solidFill>
              <a:srgbClr val="A72B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4288336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A86B8726-EEFC-4249-B788-24DE482D6776}"/>
              </a:ext>
            </a:extLst>
          </p:cNvPr>
          <p:cNvSpPr txBox="1">
            <a:spLocks noGrp="1"/>
          </p:cNvSpPr>
          <p:nvPr>
            <p:ph type="title" idx="4294967295"/>
          </p:nvPr>
        </p:nvSpPr>
        <p:spPr>
          <a:xfrm>
            <a:off x="288632" y="876300"/>
            <a:ext cx="9636417"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EXAMPLE OF A STATISTA REPORT:</a:t>
            </a:r>
            <a:endParaRPr kumimoji="0" lang="en-GB"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endParaRPr>
          </a:p>
        </p:txBody>
      </p:sp>
      <p:pic>
        <p:nvPicPr>
          <p:cNvPr id="4" name="Picture 3" descr="statista report on AI in depthe market analysis">
            <a:extLst>
              <a:ext uri="{FF2B5EF4-FFF2-40B4-BE49-F238E27FC236}">
                <a16:creationId xmlns:a16="http://schemas.microsoft.com/office/drawing/2014/main" id="{560FA80D-9570-6041-4451-FD24E884A4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8632" y="1953580"/>
            <a:ext cx="9819171" cy="3788328"/>
          </a:xfrm>
          <a:prstGeom prst="rect">
            <a:avLst/>
          </a:prstGeom>
        </p:spPr>
      </p:pic>
    </p:spTree>
    <p:custDataLst>
      <p:tags r:id="rId1"/>
    </p:custDataLst>
    <p:extLst>
      <p:ext uri="{BB962C8B-B14F-4D97-AF65-F5344CB8AC3E}">
        <p14:creationId xmlns:p14="http://schemas.microsoft.com/office/powerpoint/2010/main" val="2459118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A86B8726-EEFC-4249-B788-24DE482D6776}"/>
              </a:ext>
            </a:extLst>
          </p:cNvPr>
          <p:cNvSpPr txBox="1">
            <a:spLocks noGrp="1"/>
          </p:cNvSpPr>
          <p:nvPr>
            <p:ph type="title" idx="4294967295"/>
          </p:nvPr>
        </p:nvSpPr>
        <p:spPr>
          <a:xfrm>
            <a:off x="268312" y="541020"/>
            <a:ext cx="9636417"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schemeClr val="tx1"/>
                </a:solidFill>
                <a:effectLst/>
                <a:uLnTx/>
                <a:uFillTx/>
                <a:latin typeface="Lexia" panose="02060604030504030204" pitchFamily="18" charset="0"/>
                <a:ea typeface="+mn-ea"/>
                <a:cs typeface="+mn-cs"/>
              </a:rPr>
              <a:t>LinkedinLearning</a:t>
            </a: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 – Federated Learning/Q Learning videos</a:t>
            </a:r>
            <a:endParaRPr kumimoji="0" lang="en-GB"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endParaRPr>
          </a:p>
        </p:txBody>
      </p:sp>
      <p:pic>
        <p:nvPicPr>
          <p:cNvPr id="3" name="Picture 2" descr="screenshot showing linkedin learning federated systems training videos.">
            <a:extLst>
              <a:ext uri="{FF2B5EF4-FFF2-40B4-BE49-F238E27FC236}">
                <a16:creationId xmlns:a16="http://schemas.microsoft.com/office/drawing/2014/main" id="{C857CB51-33C9-4103-A7E8-ED2C139EEA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312" y="1622489"/>
            <a:ext cx="10042334" cy="4430602"/>
          </a:xfrm>
          <a:prstGeom prst="rect">
            <a:avLst/>
          </a:prstGeom>
        </p:spPr>
      </p:pic>
    </p:spTree>
    <p:custDataLst>
      <p:tags r:id="rId1"/>
    </p:custDataLst>
    <p:extLst>
      <p:ext uri="{BB962C8B-B14F-4D97-AF65-F5344CB8AC3E}">
        <p14:creationId xmlns:p14="http://schemas.microsoft.com/office/powerpoint/2010/main" val="2084136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A86B8726-EEFC-4249-B788-24DE482D6776}"/>
              </a:ext>
            </a:extLst>
          </p:cNvPr>
          <p:cNvSpPr txBox="1">
            <a:spLocks noGrp="1"/>
          </p:cNvSpPr>
          <p:nvPr>
            <p:ph type="title" idx="4294967295"/>
          </p:nvPr>
        </p:nvSpPr>
        <p:spPr>
          <a:xfrm>
            <a:off x="288632" y="876300"/>
            <a:ext cx="9636417"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Reference Management Software: </a:t>
            </a:r>
            <a:r>
              <a:rPr kumimoji="0" lang="en-US" sz="2400" b="0" i="0" u="none" strike="noStrike" kern="1200" cap="none" spc="0" normalizeH="0" baseline="0" noProof="0" dirty="0" err="1">
                <a:ln>
                  <a:noFill/>
                </a:ln>
                <a:solidFill>
                  <a:schemeClr val="tx1"/>
                </a:solidFill>
                <a:effectLst/>
                <a:uLnTx/>
                <a:uFillTx/>
                <a:latin typeface="Lexia" panose="02060604030504030204" pitchFamily="18" charset="0"/>
                <a:ea typeface="+mn-ea"/>
                <a:cs typeface="+mn-cs"/>
              </a:rPr>
              <a:t>Refworks</a:t>
            </a: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 for MS Word</a:t>
            </a:r>
            <a:endParaRPr kumimoji="0" lang="en-GB"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endParaRPr>
          </a:p>
        </p:txBody>
      </p:sp>
      <p:pic>
        <p:nvPicPr>
          <p:cNvPr id="3" name="Picture 2" descr="A screenshot of refworks tutorial">
            <a:hlinkClick r:id="rId4"/>
            <a:extLst>
              <a:ext uri="{FF2B5EF4-FFF2-40B4-BE49-F238E27FC236}">
                <a16:creationId xmlns:a16="http://schemas.microsoft.com/office/drawing/2014/main" id="{79F7EA03-4E35-A206-EF18-ABCEAD99A4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8632" y="1675895"/>
            <a:ext cx="6509827" cy="4419716"/>
          </a:xfrm>
          <a:prstGeom prst="rect">
            <a:avLst/>
          </a:prstGeom>
        </p:spPr>
      </p:pic>
    </p:spTree>
    <p:custDataLst>
      <p:tags r:id="rId1"/>
    </p:custDataLst>
    <p:extLst>
      <p:ext uri="{BB962C8B-B14F-4D97-AF65-F5344CB8AC3E}">
        <p14:creationId xmlns:p14="http://schemas.microsoft.com/office/powerpoint/2010/main" val="2274542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A86B8726-EEFC-4249-B788-24DE482D6776}"/>
              </a:ext>
            </a:extLst>
          </p:cNvPr>
          <p:cNvSpPr txBox="1">
            <a:spLocks noGrp="1"/>
          </p:cNvSpPr>
          <p:nvPr>
            <p:ph type="title" idx="4294967295"/>
          </p:nvPr>
        </p:nvSpPr>
        <p:spPr>
          <a:xfrm>
            <a:off x="288632" y="876300"/>
            <a:ext cx="9636417"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Reference Management Software: </a:t>
            </a:r>
            <a:r>
              <a:rPr kumimoji="0" lang="en-US" sz="2400" b="0" i="0" u="none" strike="noStrike" kern="1200" cap="none" spc="0" normalizeH="0" baseline="0" noProof="0" dirty="0" err="1">
                <a:ln>
                  <a:noFill/>
                </a:ln>
                <a:solidFill>
                  <a:schemeClr val="tx1"/>
                </a:solidFill>
                <a:effectLst/>
                <a:uLnTx/>
                <a:uFillTx/>
                <a:latin typeface="Lexia" panose="02060604030504030204" pitchFamily="18" charset="0"/>
                <a:ea typeface="+mn-ea"/>
                <a:cs typeface="+mn-cs"/>
              </a:rPr>
              <a:t>LaTex</a:t>
            </a:r>
            <a:endParaRPr kumimoji="0" lang="en-GB"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endParaRPr>
          </a:p>
        </p:txBody>
      </p:sp>
      <p:pic>
        <p:nvPicPr>
          <p:cNvPr id="3" name="Picture 2" descr="A screenshot of Overleaf referencing guidance page.">
            <a:hlinkClick r:id="rId4"/>
            <a:extLst>
              <a:ext uri="{FF2B5EF4-FFF2-40B4-BE49-F238E27FC236}">
                <a16:creationId xmlns:a16="http://schemas.microsoft.com/office/drawing/2014/main" id="{3A6244DD-CBB2-6737-1315-929C03A306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5544" y="1501617"/>
            <a:ext cx="6411406" cy="3854765"/>
          </a:xfrm>
          <a:prstGeom prst="rect">
            <a:avLst/>
          </a:prstGeom>
        </p:spPr>
      </p:pic>
      <p:sp>
        <p:nvSpPr>
          <p:cNvPr id="2" name="TextBox 1">
            <a:extLst>
              <a:ext uri="{FF2B5EF4-FFF2-40B4-BE49-F238E27FC236}">
                <a16:creationId xmlns:a16="http://schemas.microsoft.com/office/drawing/2014/main" id="{F7C567BF-E77D-4773-6CC3-70C42AD076B6}"/>
              </a:ext>
            </a:extLst>
          </p:cNvPr>
          <p:cNvSpPr txBox="1"/>
          <p:nvPr/>
        </p:nvSpPr>
        <p:spPr>
          <a:xfrm>
            <a:off x="288632" y="5665862"/>
            <a:ext cx="9359570" cy="646331"/>
          </a:xfrm>
          <a:prstGeom prst="rect">
            <a:avLst/>
          </a:prstGeom>
          <a:noFill/>
        </p:spPr>
        <p:txBody>
          <a:bodyPr wrap="square" rtlCol="0">
            <a:spAutoFit/>
          </a:bodyPr>
          <a:lstStyle/>
          <a:p>
            <a:r>
              <a:rPr lang="en-GB" sz="3600" b="1" dirty="0">
                <a:hlinkClick r:id="rId6"/>
              </a:rPr>
              <a:t>Overleaf Lancaster</a:t>
            </a:r>
            <a:endParaRPr lang="en-GB" sz="3600" b="1" dirty="0"/>
          </a:p>
        </p:txBody>
      </p:sp>
    </p:spTree>
    <p:custDataLst>
      <p:tags r:id="rId1"/>
    </p:custDataLst>
    <p:extLst>
      <p:ext uri="{BB962C8B-B14F-4D97-AF65-F5344CB8AC3E}">
        <p14:creationId xmlns:p14="http://schemas.microsoft.com/office/powerpoint/2010/main" val="765009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E551F-7449-6D5B-593E-216CF7873F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340456-B47E-013B-F409-36A524A9D53F}"/>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8" name="Title 7">
            <a:extLst>
              <a:ext uri="{FF2B5EF4-FFF2-40B4-BE49-F238E27FC236}">
                <a16:creationId xmlns:a16="http://schemas.microsoft.com/office/drawing/2014/main" id="{B4ABEC9C-9D82-8D02-9219-9192DAD91039}"/>
              </a:ext>
            </a:extLst>
          </p:cNvPr>
          <p:cNvSpPr txBox="1">
            <a:spLocks noGrp="1"/>
          </p:cNvSpPr>
          <p:nvPr>
            <p:ph type="title" idx="4294967295"/>
          </p:nvPr>
        </p:nvSpPr>
        <p:spPr>
          <a:xfrm>
            <a:off x="288632" y="876300"/>
            <a:ext cx="9636417" cy="89255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Academic </a:t>
            </a:r>
            <a:r>
              <a:rPr kumimoji="0" lang="en-US" sz="2400" b="1" i="0" u="none" strike="noStrike" kern="1200" cap="none" spc="0" normalizeH="0" baseline="0" noProof="0" dirty="0" err="1">
                <a:ln>
                  <a:noFill/>
                </a:ln>
                <a:solidFill>
                  <a:schemeClr val="tx1"/>
                </a:solidFill>
                <a:effectLst/>
                <a:uLnTx/>
                <a:uFillTx/>
                <a:latin typeface="Lexia" panose="02060604030504030204" pitchFamily="18" charset="0"/>
                <a:ea typeface="+mn-ea"/>
                <a:cs typeface="+mn-cs"/>
              </a:rPr>
              <a:t>Phrasebank</a:t>
            </a:r>
            <a:r>
              <a:rPr kumimoji="0" lang="en-US" sz="2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333333"/>
                </a:solidFill>
                <a:effectLst/>
                <a:uLnTx/>
                <a:uFillTx/>
                <a:latin typeface="Lexia" panose="02060604030504030204" pitchFamily="18" charset="0"/>
                <a:ea typeface="+mn-ea"/>
                <a:cs typeface="+mn-cs"/>
              </a:rPr>
              <a:t>It aims to provide you with examples of some of the phraseological ‘nuts and bolts’ of writing organised according to the main sections of a research paper or dissertation.</a:t>
            </a:r>
            <a:endParaRPr kumimoji="0" lang="en-GB" sz="1400" b="1" i="0" u="none" strike="noStrike" kern="1200" cap="none" spc="0" normalizeH="0" baseline="0" noProof="0" dirty="0">
              <a:ln>
                <a:noFill/>
              </a:ln>
              <a:solidFill>
                <a:schemeClr val="tx1"/>
              </a:solidFill>
              <a:effectLst/>
              <a:uLnTx/>
              <a:uFillTx/>
              <a:latin typeface="Lexia" panose="02060604030504030204" pitchFamily="18" charset="0"/>
              <a:ea typeface="+mn-ea"/>
              <a:cs typeface="+mn-cs"/>
            </a:endParaRPr>
          </a:p>
        </p:txBody>
      </p:sp>
      <p:pic>
        <p:nvPicPr>
          <p:cNvPr id="4" name="Picture 3" descr="A screenshot of the academic phrasebank">
            <a:hlinkClick r:id="rId4"/>
            <a:extLst>
              <a:ext uri="{FF2B5EF4-FFF2-40B4-BE49-F238E27FC236}">
                <a16:creationId xmlns:a16="http://schemas.microsoft.com/office/drawing/2014/main" id="{034D16DA-BC2D-616E-52D3-7A71CDDA6B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8632" y="1873925"/>
            <a:ext cx="5907069" cy="4707850"/>
          </a:xfrm>
          <a:prstGeom prst="rect">
            <a:avLst/>
          </a:prstGeom>
        </p:spPr>
      </p:pic>
    </p:spTree>
    <p:custDataLst>
      <p:tags r:id="rId1"/>
    </p:custDataLst>
    <p:extLst>
      <p:ext uri="{BB962C8B-B14F-4D97-AF65-F5344CB8AC3E}">
        <p14:creationId xmlns:p14="http://schemas.microsoft.com/office/powerpoint/2010/main" val="579245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02D0F-5345-408A-842F-D14E95CEE9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551" y="190500"/>
            <a:ext cx="3051048" cy="685800"/>
          </a:xfrm>
          <a:prstGeom prst="rect">
            <a:avLst/>
          </a:prstGeom>
        </p:spPr>
      </p:pic>
      <p:sp>
        <p:nvSpPr>
          <p:cNvPr id="6" name="Title 1">
            <a:extLst>
              <a:ext uri="{FF2B5EF4-FFF2-40B4-BE49-F238E27FC236}">
                <a16:creationId xmlns:a16="http://schemas.microsoft.com/office/drawing/2014/main" id="{10DEA958-7EC3-4664-9225-FD4E78C73703}"/>
              </a:ext>
            </a:extLst>
          </p:cNvPr>
          <p:cNvSpPr txBox="1">
            <a:spLocks noGrp="1"/>
          </p:cNvSpPr>
          <p:nvPr>
            <p:ph type="title" idx="4294967295"/>
          </p:nvPr>
        </p:nvSpPr>
        <p:spPr>
          <a:xfrm>
            <a:off x="581192" y="702156"/>
            <a:ext cx="11029616" cy="1188720"/>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0" i="0" u="none" strike="noStrike" kern="1200" cap="none" spc="0" normalizeH="0" baseline="0" noProof="0" dirty="0">
                <a:ln>
                  <a:noFill/>
                </a:ln>
                <a:solidFill>
                  <a:schemeClr val="tx1"/>
                </a:solidFill>
                <a:effectLst/>
                <a:uLnTx/>
                <a:uFillTx/>
                <a:latin typeface="Lexia" panose="02060604030504030204" pitchFamily="18" charset="0"/>
                <a:ea typeface="+mj-ea"/>
                <a:cs typeface="+mj-cs"/>
              </a:rPr>
              <a:t>Help &amp; support:</a:t>
            </a:r>
          </a:p>
        </p:txBody>
      </p:sp>
      <p:pic>
        <p:nvPicPr>
          <p:cNvPr id="9" name="Picture 8" descr="image of Bob Frost faculty librarian">
            <a:extLst>
              <a:ext uri="{FF2B5EF4-FFF2-40B4-BE49-F238E27FC236}">
                <a16:creationId xmlns:a16="http://schemas.microsoft.com/office/drawing/2014/main" id="{AA718AC5-BD21-46F8-BBDF-CBD45F1A8EC3}"/>
              </a:ext>
            </a:extLst>
          </p:cNvPr>
          <p:cNvPicPr>
            <a:picLocks noChangeAspect="1"/>
          </p:cNvPicPr>
          <p:nvPr/>
        </p:nvPicPr>
        <p:blipFill>
          <a:blip r:embed="rId4"/>
          <a:stretch>
            <a:fillRect/>
          </a:stretch>
        </p:blipFill>
        <p:spPr>
          <a:xfrm>
            <a:off x="695266" y="2276475"/>
            <a:ext cx="2747181" cy="3674331"/>
          </a:xfrm>
          <a:prstGeom prst="rect">
            <a:avLst/>
          </a:prstGeom>
        </p:spPr>
      </p:pic>
      <p:sp>
        <p:nvSpPr>
          <p:cNvPr id="11" name="TextBox 10">
            <a:extLst>
              <a:ext uri="{FF2B5EF4-FFF2-40B4-BE49-F238E27FC236}">
                <a16:creationId xmlns:a16="http://schemas.microsoft.com/office/drawing/2014/main" id="{777FCCB0-CFB2-496C-8668-56281111AA96}"/>
              </a:ext>
            </a:extLst>
          </p:cNvPr>
          <p:cNvSpPr txBox="1"/>
          <p:nvPr/>
        </p:nvSpPr>
        <p:spPr>
          <a:xfrm>
            <a:off x="4325193" y="2210788"/>
            <a:ext cx="6115050" cy="3385542"/>
          </a:xfrm>
          <a:prstGeom prst="rect">
            <a:avLst/>
          </a:prstGeom>
          <a:noFill/>
        </p:spPr>
        <p:txBody>
          <a:bodyPr wrap="square" rtlCol="0">
            <a:spAutoFit/>
          </a:bodyPr>
          <a:lstStyle/>
          <a:p>
            <a:r>
              <a:rPr lang="en-GB" sz="2000" b="1" dirty="0">
                <a:latin typeface="Lexia" panose="02060604030504030204" pitchFamily="18" charset="0"/>
              </a:rPr>
              <a:t>Faculty Librarian – Bob Frost </a:t>
            </a:r>
            <a:r>
              <a:rPr lang="en-GB" sz="2000" dirty="0">
                <a:solidFill>
                  <a:srgbClr val="A72B27"/>
                </a:solidFill>
                <a:latin typeface="Lexia" panose="02060604030504030204" pitchFamily="18" charset="0"/>
                <a:hlinkClick r:id="rId5">
                  <a:extLst>
                    <a:ext uri="{A12FA001-AC4F-418D-AE19-62706E023703}">
                      <ahyp:hlinkClr xmlns:ahyp="http://schemas.microsoft.com/office/drawing/2018/hyperlinkcolor" val="tx"/>
                    </a:ext>
                  </a:extLst>
                </a:hlinkClick>
              </a:rPr>
              <a:t>r.frost6@lancaster.ac.uk</a:t>
            </a:r>
            <a:endParaRPr lang="en-GB" sz="2000" dirty="0">
              <a:solidFill>
                <a:srgbClr val="A72B27"/>
              </a:solidFill>
              <a:latin typeface="Lexia" panose="02060604030504030204" pitchFamily="18" charset="0"/>
            </a:endParaRPr>
          </a:p>
          <a:p>
            <a:endParaRPr lang="en-GB" sz="2000" dirty="0">
              <a:latin typeface="Lexia" panose="02060604030504030204" pitchFamily="18" charset="0"/>
            </a:endParaRPr>
          </a:p>
          <a:p>
            <a:r>
              <a:rPr lang="en-GB" sz="2000" b="0" i="0" dirty="0">
                <a:solidFill>
                  <a:srgbClr val="000000"/>
                </a:solidFill>
                <a:effectLst/>
                <a:latin typeface="Lexia" panose="02060604030504030204" pitchFamily="18" charset="0"/>
              </a:rPr>
              <a:t>Bob’s aim is to support students in maximising their use of our Library resources.</a:t>
            </a:r>
          </a:p>
          <a:p>
            <a:endParaRPr lang="en-GB" sz="2000" b="0" i="0" dirty="0">
              <a:solidFill>
                <a:srgbClr val="000000"/>
              </a:solidFill>
              <a:effectLst/>
              <a:latin typeface="Lexia" panose="02060604030504030204" pitchFamily="18" charset="0"/>
            </a:endParaRPr>
          </a:p>
          <a:p>
            <a:r>
              <a:rPr lang="en-GB" sz="2000" dirty="0">
                <a:solidFill>
                  <a:srgbClr val="000000"/>
                </a:solidFill>
                <a:latin typeface="Lexia" panose="02060604030504030204" pitchFamily="18" charset="0"/>
              </a:rPr>
              <a:t>Book an appointment:</a:t>
            </a:r>
            <a:endParaRPr lang="en-GB" sz="2000" b="0" i="0" dirty="0">
              <a:solidFill>
                <a:srgbClr val="000000"/>
              </a:solidFill>
              <a:effectLst/>
              <a:latin typeface="Lexia" panose="02060604030504030204" pitchFamily="18" charset="0"/>
            </a:endParaRPr>
          </a:p>
          <a:p>
            <a:r>
              <a:rPr lang="en-GB" sz="2000" dirty="0">
                <a:solidFill>
                  <a:srgbClr val="A72B27"/>
                </a:solidFill>
                <a:latin typeface="Lexia" panose="02060604030504030204" pitchFamily="18" charset="0"/>
                <a:hlinkClick r:id="rId6">
                  <a:extLst>
                    <a:ext uri="{A12FA001-AC4F-418D-AE19-62706E023703}">
                      <ahyp:hlinkClr xmlns:ahyp="http://schemas.microsoft.com/office/drawing/2018/hyperlinkcolor" val="tx"/>
                    </a:ext>
                  </a:extLst>
                </a:hlinkClick>
              </a:rPr>
              <a:t>FST | Lancaster University</a:t>
            </a:r>
            <a:endParaRPr lang="en-GB" sz="2000" dirty="0">
              <a:solidFill>
                <a:srgbClr val="A72B27"/>
              </a:solidFill>
              <a:latin typeface="Lexia" panose="02060604030504030204" pitchFamily="18" charset="0"/>
            </a:endParaRPr>
          </a:p>
          <a:p>
            <a:endParaRPr lang="en-GB" dirty="0">
              <a:latin typeface="Lexia" panose="02060604030504030204" pitchFamily="18" charset="0"/>
            </a:endParaRPr>
          </a:p>
          <a:p>
            <a:endParaRPr lang="en-GB" dirty="0">
              <a:latin typeface="Lexia" panose="02060604030504030204" pitchFamily="18" charset="0"/>
            </a:endParaRPr>
          </a:p>
          <a:p>
            <a:r>
              <a:rPr lang="en-GB" dirty="0">
                <a:latin typeface="Lexia" panose="02060604030504030204" pitchFamily="18" charset="0"/>
              </a:rPr>
              <a:t> </a:t>
            </a:r>
          </a:p>
        </p:txBody>
      </p:sp>
    </p:spTree>
    <p:custDataLst>
      <p:tags r:id="rId1"/>
    </p:custDataLst>
    <p:extLst>
      <p:ext uri="{BB962C8B-B14F-4D97-AF65-F5344CB8AC3E}">
        <p14:creationId xmlns:p14="http://schemas.microsoft.com/office/powerpoint/2010/main" val="5771429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2a93146-1ffb-44fd-bd66-442bfd89a83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BE03F1BA41BB44BA1C0F00C2ABC434" ma:contentTypeVersion="15" ma:contentTypeDescription="Create a new document." ma:contentTypeScope="" ma:versionID="6b5cc0a17fb0e8983b5735c808d7b825">
  <xsd:schema xmlns:xsd="http://www.w3.org/2001/XMLSchema" xmlns:xs="http://www.w3.org/2001/XMLSchema" xmlns:p="http://schemas.microsoft.com/office/2006/metadata/properties" xmlns:ns3="52a93146-1ffb-44fd-bd66-442bfd89a839" xmlns:ns4="825ca444-fca0-4331-acb4-0b0360d2987d" targetNamespace="http://schemas.microsoft.com/office/2006/metadata/properties" ma:root="true" ma:fieldsID="24680c68eaf6f68a5b0eea53d7755310" ns3:_="" ns4:_="">
    <xsd:import namespace="52a93146-1ffb-44fd-bd66-442bfd89a839"/>
    <xsd:import namespace="825ca444-fca0-4331-acb4-0b0360d2987d"/>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3:MediaServiceAutoKeyPoints" minOccurs="0"/>
                <xsd:element ref="ns3:MediaServiceKeyPoints"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a93146-1ffb-44fd-bd66-442bfd89a8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25ca444-fca0-4331-acb4-0b0360d2987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405E5FF-F7E9-4E15-A68B-109DA83A287C}">
  <ds:schemaRefs>
    <ds:schemaRef ds:uri="http://schemas.microsoft.com/sharepoint/v3/contenttype/forms"/>
  </ds:schemaRefs>
</ds:datastoreItem>
</file>

<file path=customXml/itemProps2.xml><?xml version="1.0" encoding="utf-8"?>
<ds:datastoreItem xmlns:ds="http://schemas.openxmlformats.org/officeDocument/2006/customXml" ds:itemID="{74EE0260-B117-428E-9482-9F8E1EF5A1A9}">
  <ds:schemaRefs>
    <ds:schemaRef ds:uri="http://purl.org/dc/elements/1.1/"/>
    <ds:schemaRef ds:uri="http://schemas.microsoft.com/office/2006/metadata/properties"/>
    <ds:schemaRef ds:uri="52a93146-1ffb-44fd-bd66-442bfd89a839"/>
    <ds:schemaRef ds:uri="http://purl.org/dc/terms/"/>
    <ds:schemaRef ds:uri="http://schemas.openxmlformats.org/package/2006/metadata/core-properties"/>
    <ds:schemaRef ds:uri="http://schemas.microsoft.com/office/2006/documentManagement/types"/>
    <ds:schemaRef ds:uri="825ca444-fca0-4331-acb4-0b0360d2987d"/>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60B152C1-2D71-47E7-9E28-00EBBD6B73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a93146-1ffb-44fd-bd66-442bfd89a839"/>
    <ds:schemaRef ds:uri="825ca444-fca0-4331-acb4-0b0360d298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736</Words>
  <Application>Microsoft Office PowerPoint</Application>
  <PresentationFormat>Widescreen</PresentationFormat>
  <Paragraphs>97</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Lexia</vt:lpstr>
      <vt:lpstr>Office Theme</vt:lpstr>
      <vt:lpstr>Literature Searching for your Final Year Project Bob Frost – Faculty Librarian</vt:lpstr>
      <vt:lpstr>What is a Background Section?</vt:lpstr>
      <vt:lpstr>What is the purpose of a background section?</vt:lpstr>
      <vt:lpstr>How do I structure the background section?</vt:lpstr>
      <vt:lpstr>YOUR QUESTION:</vt:lpstr>
      <vt:lpstr>IDENTIFYING KEYWORDS FOR SEARCHING:  CAST YOUR NET AS WIDE AS YOU CAN BY USING SYNONYMS</vt:lpstr>
      <vt:lpstr>SEARCHING TIPS AND TRICKS:</vt:lpstr>
      <vt:lpstr>WHERE TO SEARCH:</vt:lpstr>
      <vt:lpstr>WHERE TO SEARCH:</vt:lpstr>
      <vt:lpstr>EXAMPLE OF A SCOPUS SEARCH:   </vt:lpstr>
      <vt:lpstr>SCOPUS RESULTS PAGE:    </vt:lpstr>
      <vt:lpstr>EXAMPLE OF A STATISTA REPORT:</vt:lpstr>
      <vt:lpstr>LinkedinLearning – Federated Learning/Q Learning videos</vt:lpstr>
      <vt:lpstr>Reference Management Software: Refworks for MS Word</vt:lpstr>
      <vt:lpstr>Reference Management Software: LaTex</vt:lpstr>
      <vt:lpstr>Academic Phrasebank: It aims to provide you with examples of some of the phraseological ‘nuts and bolts’ of writing organised according to the main sections of a research paper or dissertation.</vt:lpstr>
      <vt:lpstr>Help &amp; support: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Frost, Bob</dc:creator>
  <cp:lastModifiedBy>Frost, Bob</cp:lastModifiedBy>
  <cp:revision>33</cp:revision>
  <dcterms:created xsi:type="dcterms:W3CDTF">2022-02-04T14:45:01Z</dcterms:created>
  <dcterms:modified xsi:type="dcterms:W3CDTF">2025-10-01T08:21:42Z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0x01010058BE03F1BA41BB44BA1C0F00C2ABC434</vt:lpwstr>
  </property>
  <property fmtid="{D5CDD505-2E9C-101B-9397-08002B2CF9AE}" pid="3" name="ArticulateGUID">
    <vt:lpwstr>54803DA4-41F2-4772-9C72-FA4D52352277</vt:lpwstr>
  </property>
  <property fmtid="{D5CDD505-2E9C-101B-9397-08002B2CF9AE}" pid="4" name="ArticulatePath">
    <vt:lpwstr>https://livelancsac-my.sharepoint.com/personal/frostr3_lancaster_ac_uk/Documents/Partners/Partners/Leipzig/Leipzig scc background section</vt:lpwstr>
  </property>
</Properties>
</file>